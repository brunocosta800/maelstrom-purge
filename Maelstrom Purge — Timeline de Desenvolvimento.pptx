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Alexsander Sudario abre. Apresentar o grupo e o título. Uma frase: "vamos contar a história do jogo prompt a prompt — como era antes, o que a IA fez, o que deu errado e como corrigimos". Se der, já deixar o jogo aberto no site para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Alexsander Sudario. Este é o mapa da apresentação: cada imagem é o jogo de verdade naquele ponto (capturamos rodando os commits antigos do git). Em cinza, a fase com o Gemini; em ciano, a segunda fase do projeto. Vamos passar por cada versão: o que pedimos, o que a IA entregou, o que deu errado e como corrigimos. Divisão: Alexsander (cap. 1), Bruno (caps. 2–5), Felipe (caps. 6–7), João (como o cap. 7 funciona por dentro), Vitor (o jogo do cap. 7), Vinicius (erros do cap. 7, caps. 8–9 e conclusão).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Alexsander Sudario. O primeiro prompt foi único e grande, pedindo o jogo inteiro ao Gemini. Ler o trecho. O que chegou foi uma base: dá para andar, trocar de arma e ver o shader neon nos blocos, mas não havia inimigos e a espada virou escopeta. O termo "webgpl" era ambíguo e o Gemini usou WebGL — isso vai voltar no capítulo 6. Antes de funcionar, dois erros: tela preta porque a luz estava fraca demais para o Three.js novo, e um crash porque o getObject() não existe mais. Ambos resolvidos colando o erro de volta no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Bruno Costa. Nesta versão o tiro passou a ter peso: cada arma tem cadência própria, recuo e um som feito com Web Audio, sem arquivos de áudio. O clarão do tiro, porém, piscava a luz do teto da boate: virou um bug que o grupo percebeu e corrigiu no capítulo 5. E o jogo ainda era um cenário vazio: o próximo passo foi colocar inimigos.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Bruno Costa. No capítulo 3 a IA escreveu um plano (implementation_plan.md) antes de programar; no 4 os zumbis entraram. A imagem é real: rodando essa versão, os zumbis gigantes chegam até a câmera e ficam colados, porque ainda não existia dano no jogador. Também havia a textura deslocada. Os dois problemas foram resolvidos no capítulo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Bruno Costa. Com vida no jogador, o jogo passou a ter risco. Os dois efeitos pedidos viraram shaders: o sangue calcula a queda das partículas na própria GPU e o flash pinta o inimigo de vermelho. Dois erros corrigidos colando a descrição do problema na IA: a textura de ponta-cabeça e o flash que piscava a luz do teto. Mas o jogo ainda tinha um problema maior, que só apareceu no capítulo 6. Passar para Felipe.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Bruno Costa. Com vida no jogador, o jogo passou a ter risco. Os dois efeitos pedidos viraram shaders: o sangue calcula a queda das partículas na própria GPU e o flash pinta o inimigo de vermelho. Dois erros corrigidos colando a descrição do problema na IA: a textura de ponta-cabeça e o flash que piscava a luz do teto. Mas o jogo ainda tinha um problema maior, que só apareceu no capítulo 6. Passar para Felipe.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O chefe é o mesmo modelo do Imp, em escala 3× e com outra textura do pacote. A onda de choque é um anel no chão com shader próprio. Na demo, mostrar o pulo sobre a onda.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Vitor. Cada imagem foi gerada rodando só aquele shader, isolado, com o código do jogo. Vermelho é o shader que veio do Gemini e foi convertido; ciano são os novos do capítulo 7. Nada disso usa textura: o desenho é calculado na GPU pixel a pixel (seno, ruído, posição no mundo). Por isso trocar a cor da fase muda todos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Vitor. As partículas vieram do shader de sangue do Gemini: antes, cada tiro criava um material novo, o que no WebGPU trava o jogo. Agora existe um único sistema com milhares de partículas; a CPU só diz onde e quando cada uma nasce, e a GPU calcula o voo. Bolas de fogo, portal, raios e onda de choque foram criados no capítulo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Vitor. Os quatro estados são o mesmo material, controlado por três números por inimigo: dano, atordoado e dissolução. Um só material serve para todos os Imps; cada um passa seus números na hora de ser desenhado. A dissolução usa ruído 3D: os pixels onde o ruído fica abaixo de um limite são descartados, e a borda brilha. Ela é usada ao contrário quando o inimigo nasce (se materializa) e quando morre (se desfaz).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Vitor. As quatro imagens são a mesma cena do jogo: só muda um número no shader final. O jogo liga esse número quando o jogador toma dano (vermelho), pega vida (verde) ou pausa (sem cor), e ele vai voltando a zero sozinho. A separação entre mundo e arma é a técnica clássica dos FPS para a arma nunca entrar na parede.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Vitor. L é a rotação local do osso em repouso, P é a rotação do pai em repouso e D é o giro desejado descrito no espaço do modelo — por exemplo, girar a coxa no eixo lateral. Antes de escrever o jogo, a IA testou essa ideia numa página separada. Fechar com a IA dos inimigos e passar para Vitor Hideki.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Inspiração em Doom Eternal: inimigos derrubam vida e munição, então ficar parado é pior do que avançar. Dificuldade moderada foi calibrada com o bot: ele toma dano, mas se recupera com os orbes. Há três níveis: Fácil, Normal e Pesadelo.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Comparar com o slide do antes: agora há objetivo, progressão e identidade visual por fase, porque a cor da fase alimenta todos os shaders de uma vez. Lembrar a banca de que as gravações foram feitas com um bot de mira automática; a demo ao vivo é com uma pessoa jogando.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A curva é de "uma novidade por fase": a fase 1 ensina os três inimigos básicos e dá a escopeta; a fase 2 traz o Imp de Elite e caixotes para se proteger; a fase 3 muda o terreno com ácido, que tira vida, e entrega a railgun para lidar com as Elites; a fase 4 é só o chefe e os reforços que ele invoca. A arma nova de cada fase está no mapa como item, e pegá-la já a coloca na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A dificuldade não adiciona inimigos: muda só quanto eles aguentam, quanto machucam e quão rápido são os projéteis. No Pesadelo, uma bola de fogo do Imp tira 18 de vida e voa 20% mais rápido, o que exige usar o dash para desviar. O Normal é o "moderado" que o prompt pediu; foi calibrado com o bot (na fase 2 ele terminou com 86 de 100 de vida).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Apresentar os pacotes. A prévia do Bestiary mostra 7 monstros, mas a versão gratuita traz só o Imp e o Puglin — com eles e com as 3 texturas de cada criamos 4 inimigos diferentes, e o zumbi do projeto original virou o quinto. Agora a Pokédex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Ficha do zumbi, o único inimigo que veio do jogo original. As barras usam a mesma escala em todas as fichas (vida até 320, a do Imp de Elite; velocidade até 7,4 m/s, a do Puglin; dano até 30, o maior golpe do chefe), dá para comparar de uma ficha para outra. Com 22% da vida ou menos ele fica atordoado e pode ser executado com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O Puglin é baixinho, por isso tem hitbox menor e é difícil de acertar quando se aproxima rápido. A animação de corrida é a mesma função dos outros, só com o corpo mais inclinado e passos mais rápidos.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O Imp é o que deixa o jogo com cara de Doom: as bolas de fogo são projéteis visíveis, com rastro de partículas, e dá para desviar. Ele mira com uma leve antecipação do movimento do jogador, então correr em linha reta não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Mesmo modelo do Imp, mas com outra textura do pacote (a azul), um tom roxo aplicado no shader e olhos roxos usando o mapa emissivo. É um bom exemplo de como um único asset vira inimigos diferentes só com shader e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Vitor Hideki. O chefe é o Imp em escala 3×, com outra textura do pacote e olhos laranja mais intensos no shader. A vida passa da escala das barras (3300 contra 320 do mais resistente dos outros), por isso a barra está cheia e com contorno brilhante. Ao morrer: câmera lenta, mata os lacaios e solta 10 orbes de vida. Em seguida, o slide do chefe em ação dentro do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Binda. A IA escreveu um bot que mira e atira sozinho, e gravou partidas. Os prints mostraram problemas visuais que o build não acusaria: fase 3 estourando de verde, rastro do chefe ofuscante, clarão da escopeta enorme, orbe grudado. No total foram 16 erros registrados, com mensagem, diagnóstico e correção no diário.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Binda. Este bug foi o grupo que encontrou jogando. A IA não chutou: escreveu um teste que compara, em cada fase, onde há colisão e onde há algo desenhado, e achou os caixotes sem desenho em todas as fases. A causa foi precisão de número com vírgula. Depois de corrigido, o caixote ainda era escuro demais e parecia invisível, então ganhou faixa de perigo e neon.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Binda. Trocar para o navegador e jogar uns 2 minutos: menu com o selo WebGPU, fase 1 (ondas, escopeta, uma execução com F), depois fase 4 para mostrar o chefe. Abrir o site antes da apresentação para os ~25 MB de modelos já estarem em cache. Plano B: o vídeo depois.mp4.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Vinicius Binda fecha. Agradecer, reforçar a mensagem principal e abrir para perguntas. Perguntas prováveis: por que TSL e não WGSL direto (o TSL gera WGSL e também funciona no fallback WebGL2); como a IA sabia que estava certo (prints, vídeo e bot); qual foi o maior erro (o max is not a function).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u do jogo Maelstrom Purge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18000">
                <a:srgbClr val="120A10"/>
              </a:gs>
              <a:gs pos="70000">
                <a:srgbClr val="120A10">
                  <a:alpha val="2000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>
            <p:ph type="title"/>
          </p:nvPr>
        </p:nvSpPr>
        <p:spPr>
          <a:xfrm>
            <a:off x="812800" y="3833019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F3B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MAELSTROM PURGE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812800" y="5052219"/>
            <a:ext cx="915670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Documentação de desenvolvimento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56185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Alexsander Sudario · Bruno Costa · Felipe Martins · João Vitor · Vitor Hideki · Vinicius Binda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https://github.com/brunocosta800/maelstrom-purge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são 1: blocos listrados e revólver rosa">    </p:cNvPr>
          <p:cNvPicPr>
            <a:picLocks noChangeAspect="1"/>
          </p:cNvPicPr>
          <p:nvPr/>
        </p:nvPicPr>
        <p:blipFill>
          <a:blip r:embed="rId1"/>
          <a:srcRect l="0" r="0" t="5666" b="5666"/>
          <a:stretch/>
        </p:blipFill>
        <p:spPr>
          <a:xfrm>
            <a:off x="812800" y="1257300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812800" y="2578100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D3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842220"/>
            <a:ext cx="26243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 Prompt Gemini</a:t>
            </a:r>
            <a:endParaRPr lang="en-US" sz="1600" dirty="0"/>
          </a:p>
        </p:txBody>
      </p:sp>
      <p:pic>
        <p:nvPicPr>
          <p:cNvPr id="5" name="Image 1" descr="Versão 2: submetralhadora roxa">    </p:cNvPr>
          <p:cNvPicPr>
            <a:picLocks noChangeAspect="1"/>
          </p:cNvPicPr>
          <p:nvPr/>
        </p:nvPicPr>
        <p:blipFill>
          <a:blip r:embed="rId2"/>
          <a:srcRect l="0" r="0" t="5666" b="5666"/>
          <a:stretch/>
        </p:blipFill>
        <p:spPr>
          <a:xfrm>
            <a:off x="3487738" y="1257300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Text 2"/>
          <p:cNvSpPr/>
          <p:nvPr/>
        </p:nvSpPr>
        <p:spPr>
          <a:xfrm>
            <a:off x="3487738" y="2578100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D3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487738" y="2842220"/>
            <a:ext cx="26243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Armas</a:t>
            </a:r>
            <a:endParaRPr lang="en-US" sz="1600" dirty="0"/>
          </a:p>
        </p:txBody>
      </p:sp>
      <p:pic>
        <p:nvPicPr>
          <p:cNvPr id="8" name="Image 2" descr="Versão 4: zumbis colados na câmera">    </p:cNvPr>
          <p:cNvPicPr>
            <a:picLocks noChangeAspect="1"/>
          </p:cNvPicPr>
          <p:nvPr/>
        </p:nvPicPr>
        <p:blipFill>
          <a:blip r:embed="rId3"/>
          <a:srcRect l="0" r="0" t="5666" b="5666"/>
          <a:stretch/>
        </p:blipFill>
        <p:spPr>
          <a:xfrm>
            <a:off x="6162675" y="1257300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9" name="Text 4"/>
          <p:cNvSpPr/>
          <p:nvPr/>
        </p:nvSpPr>
        <p:spPr>
          <a:xfrm>
            <a:off x="6162675" y="2578100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D3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162675" y="2842220"/>
            <a:ext cx="26243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Criação de Inimigos</a:t>
            </a:r>
            <a:endParaRPr lang="en-US" sz="1600" dirty="0"/>
          </a:p>
        </p:txBody>
      </p:sp>
      <p:pic>
        <p:nvPicPr>
          <p:cNvPr id="11" name="Image 3" descr="Versão 5: HUD com vida">    </p:cNvPr>
          <p:cNvPicPr>
            <a:picLocks noChangeAspect="1"/>
          </p:cNvPicPr>
          <p:nvPr/>
        </p:nvPicPr>
        <p:blipFill>
          <a:blip r:embed="rId4"/>
          <a:srcRect l="0" r="0" t="5666" b="5666"/>
          <a:stretch/>
        </p:blipFill>
        <p:spPr>
          <a:xfrm>
            <a:off x="8837613" y="1257300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12" name="Text 6"/>
          <p:cNvSpPr/>
          <p:nvPr/>
        </p:nvSpPr>
        <p:spPr>
          <a:xfrm>
            <a:off x="8837613" y="2578100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D3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837613" y="2842220"/>
            <a:ext cx="282549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visual de inimigos</a:t>
            </a:r>
            <a:endParaRPr lang="en-US" sz="1600" dirty="0"/>
          </a:p>
        </p:txBody>
      </p:sp>
      <p:pic>
        <p:nvPicPr>
          <p:cNvPr id="14" name="Image 4" descr="O Arquidemônio, um Imp gigante de olhos vermelhos, com barra de vida no topo">    </p:cNvPr>
          <p:cNvPicPr>
            <a:picLocks noChangeAspect="1"/>
          </p:cNvPicPr>
          <p:nvPr/>
        </p:nvPicPr>
        <p:blipFill>
          <a:blip r:embed="rId5"/>
          <a:srcRect l="0" r="0" t="5666" b="5666"/>
          <a:stretch/>
        </p:blipFill>
        <p:spPr>
          <a:xfrm>
            <a:off x="812800" y="3213001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15" name="Text 8"/>
          <p:cNvSpPr/>
          <p:nvPr/>
        </p:nvSpPr>
        <p:spPr>
          <a:xfrm>
            <a:off x="812800" y="4533801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12800" y="4797921"/>
            <a:ext cx="26243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1º Prompt Claude</a:t>
            </a:r>
            <a:endParaRPr lang="en-US" sz="1600" dirty="0"/>
          </a:p>
        </p:txBody>
      </p:sp>
      <p:pic>
        <p:nvPicPr>
          <p:cNvPr id="17" name="Image 5" descr="Versão 7: fase Totentanz em WebGPU">    </p:cNvPr>
          <p:cNvPicPr>
            <a:picLocks noChangeAspect="1"/>
          </p:cNvPicPr>
          <p:nvPr/>
        </p:nvPicPr>
        <p:blipFill>
          <a:blip r:embed="rId6"/>
          <a:srcRect l="0" r="0" t="5666" b="5666"/>
          <a:stretch/>
        </p:blipFill>
        <p:spPr>
          <a:xfrm>
            <a:off x="3487738" y="3213001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18" name="Text 10"/>
          <p:cNvSpPr/>
          <p:nvPr/>
        </p:nvSpPr>
        <p:spPr>
          <a:xfrm>
            <a:off x="3487738" y="4533801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3487738" y="4797921"/>
            <a:ext cx="26243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 do Claude</a:t>
            </a:r>
            <a:endParaRPr lang="en-US" sz="1600" dirty="0"/>
          </a:p>
        </p:txBody>
      </p:sp>
      <p:pic>
        <p:nvPicPr>
          <p:cNvPr id="20" name="Image 6" descr="Versão 9: caixote visível com neon">    </p:cNvPr>
          <p:cNvPicPr>
            <a:picLocks noChangeAspect="1"/>
          </p:cNvPicPr>
          <p:nvPr/>
        </p:nvPicPr>
        <p:blipFill>
          <a:blip r:embed="rId7"/>
          <a:srcRect l="0" r="0" t="5666" b="5666"/>
          <a:stretch/>
        </p:blipFill>
        <p:spPr>
          <a:xfrm>
            <a:off x="6162675" y="3213001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21" name="Text 12"/>
          <p:cNvSpPr/>
          <p:nvPr/>
        </p:nvSpPr>
        <p:spPr>
          <a:xfrm>
            <a:off x="6162675" y="4533801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6162675" y="4797921"/>
            <a:ext cx="2624376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2º Prompt: Correção de paredes</a:t>
            </a:r>
            <a:endParaRPr lang="en-US" sz="1600" dirty="0"/>
          </a:p>
        </p:txBody>
      </p:sp>
      <p:pic>
        <p:nvPicPr>
          <p:cNvPr id="23" name="Image 7" descr="Versão 8: menu do jogo online">    </p:cNvPr>
          <p:cNvPicPr>
            <a:picLocks noChangeAspect="1"/>
          </p:cNvPicPr>
          <p:nvPr/>
        </p:nvPicPr>
        <p:blipFill>
          <a:blip r:embed="rId8"/>
          <a:srcRect l="0" r="0" t="5666" b="5666"/>
          <a:stretch/>
        </p:blipFill>
        <p:spPr>
          <a:xfrm>
            <a:off x="8837613" y="3213001"/>
            <a:ext cx="254635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24" name="Text 14"/>
          <p:cNvSpPr/>
          <p:nvPr/>
        </p:nvSpPr>
        <p:spPr>
          <a:xfrm>
            <a:off x="8837613" y="4533801"/>
            <a:ext cx="2624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8837613" y="4797921"/>
            <a:ext cx="262437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Versão final</a:t>
            </a:r>
            <a:endParaRPr lang="en-US" sz="1600" dirty="0"/>
          </a:p>
        </p:txBody>
      </p:sp>
      <p:sp>
        <p:nvSpPr>
          <p:cNvPr id="26" name="Text 16"/>
          <p:cNvSpPr/>
          <p:nvPr>
            <p:ph type="title"/>
          </p:nvPr>
        </p:nvSpPr>
        <p:spPr>
          <a:xfrm>
            <a:off x="809625" y="609600"/>
            <a:ext cx="1088993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HISTÓRICO DE VERSÕES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são 1 do jogo: blocos com listras vermelhas e um revólver rosa enorme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812800" y="1676400"/>
            <a:ext cx="5715000" cy="3213100"/>
          </a:xfrm>
          <a:prstGeom prst="roundRect">
            <a:avLst>
              <a:gd name="adj" fmla="val 237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812800" y="49657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88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jogo no commit 2252980, capturado rodando a versão antiga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83400" y="1606550"/>
            <a:ext cx="940495" cy="276820"/>
          </a:xfrm>
          <a:custGeom>
            <a:avLst/>
            <a:gdLst/>
            <a:ahLst/>
            <a:cxnLst/>
            <a:rect l="l" t="t" r="r" b="b"/>
            <a:pathLst>
              <a:path w="940495" h="276820">
                <a:moveTo>
                  <a:pt x="120650" y="0"/>
                </a:moveTo>
                <a:lnTo>
                  <a:pt x="819845" y="0"/>
                </a:lnTo>
                <a:arcTo hR="120650" wR="120650" stAng="16200000" swAng="5400000"/>
                <a:lnTo>
                  <a:pt x="940495" y="156170"/>
                </a:lnTo>
                <a:arcTo hR="120650" wR="120650" stAng="0" swAng="5400000"/>
                <a:lnTo>
                  <a:pt x="120650" y="27682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noFill/>
          <a:ln w="12700">
            <a:solidFill>
              <a:srgbClr val="9C889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IA: Gemini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6877050" y="2016720"/>
            <a:ext cx="53149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PRIMEIRO PROMPT GEMINI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896100" y="2570361"/>
            <a:ext cx="0" cy="693241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2150" y="2570361"/>
            <a:ext cx="446716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"…um jogo de browser usando </a:t>
            </a:r>
            <a:r>
              <a:rPr lang="en-US" sz="1300" b="1" i="1" dirty="0">
                <a:solidFill>
                  <a:srgbClr val="FFA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webgpl</a:t>
            </a: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para o three.js… igual o jogo Doom, mas com uma estética cyberpunk… 3 armas (um revolver, uma metralhadora e uma espada)…"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77050" y="3390602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Veio: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FPS em primeira pessoa, 3 armas (modelos do Kenney.nl), shader de grade neon, nomes das 3 fases.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77050" y="3944243"/>
            <a:ext cx="46372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Diferente do pedido: 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75856" y="4284563"/>
            <a:ext cx="453078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</a:t>
            </a:r>
            <a:r>
              <a:rPr lang="en-US" sz="1200" dirty="0">
                <a:solidFill>
                  <a:srgbClr val="FFA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webgpl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 virou WebGL e não WebGPU; 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escopeta no lugar da espada; 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 inimigo.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são 2: submetralhadora roxa com o nome e a cadência no HUD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812800" y="1676400"/>
            <a:ext cx="5715000" cy="3213100"/>
          </a:xfrm>
          <a:prstGeom prst="roundRect">
            <a:avLst>
              <a:gd name="adj" fmla="val 237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812800" y="49657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88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jogo no commit e571d3e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89750" y="1911350"/>
            <a:ext cx="940495" cy="276820"/>
          </a:xfrm>
          <a:custGeom>
            <a:avLst/>
            <a:gdLst/>
            <a:ahLst/>
            <a:cxnLst/>
            <a:rect l="l" t="t" r="r" b="b"/>
            <a:pathLst>
              <a:path w="940495" h="276820">
                <a:moveTo>
                  <a:pt x="120650" y="0"/>
                </a:moveTo>
                <a:lnTo>
                  <a:pt x="819845" y="0"/>
                </a:lnTo>
                <a:arcTo hR="120650" wR="120650" stAng="16200000" swAng="5400000"/>
                <a:lnTo>
                  <a:pt x="940495" y="156170"/>
                </a:lnTo>
                <a:arcTo hR="120650" wR="120650" stAng="0" swAng="5400000"/>
                <a:lnTo>
                  <a:pt x="120650" y="27682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noFill/>
          <a:ln w="12700">
            <a:solidFill>
              <a:srgbClr val="9C889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IA: Gemini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6883400" y="2321520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ARMAS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902450" y="3002161"/>
            <a:ext cx="0" cy="462161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8500" y="3002161"/>
            <a:ext cx="446716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"Eu baixei o kit de modelos de assets de armas do kenny nl, como faço para colocar os modelos no jogo?"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83400" y="3591322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Veio: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cadência diferente por arma, tiro automático na submetralhadora, recuo e som de tiro gerado em tempo real.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83400" y="4144962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 errado: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"clarão do tiro" fazia piscar a luz do teto, iluminando a boate inteira. Corrigido no capítulo 5.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83400" y="4698603"/>
            <a:ext cx="46372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Ainda faltava: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alguém em quem atirar.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são 4: cabeças de zumbis gigantes coladas na câmera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812800" y="1677690"/>
            <a:ext cx="5715000" cy="3213100"/>
          </a:xfrm>
          <a:prstGeom prst="roundRect">
            <a:avLst>
              <a:gd name="adj" fmla="val 237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812800" y="496699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88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jogo no commit f2598f6: os zumbis chegam e grudam na câmera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89750" y="2049959"/>
            <a:ext cx="940495" cy="276820"/>
          </a:xfrm>
          <a:custGeom>
            <a:avLst/>
            <a:gdLst/>
            <a:ahLst/>
            <a:cxnLst/>
            <a:rect l="l" t="t" r="r" b="b"/>
            <a:pathLst>
              <a:path w="940495" h="276820">
                <a:moveTo>
                  <a:pt x="120650" y="0"/>
                </a:moveTo>
                <a:lnTo>
                  <a:pt x="819845" y="0"/>
                </a:lnTo>
                <a:arcTo hR="120650" wR="120650" stAng="16200000" swAng="5400000"/>
                <a:lnTo>
                  <a:pt x="940495" y="156170"/>
                </a:lnTo>
                <a:arcTo hR="120650" wR="120650" stAng="0" swAng="5400000"/>
                <a:lnTo>
                  <a:pt x="120650" y="27682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noFill/>
          <a:ln w="12700">
            <a:solidFill>
              <a:srgbClr val="9C889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IA: Gemini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6883400" y="2460129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CRIAÇÃO DE INIMIGOS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902450" y="3013770"/>
            <a:ext cx="0" cy="693241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8500" y="3013770"/>
            <a:ext cx="4460621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"Implementação de 10 inimigos no mapa… com animação procedural de zumbi, distribuição estratégica pelo mapa e integração com o sistema de combate/tiro."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83400" y="3834011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Veio: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plano escrito antes do código, 10 zumbis com 2 skins, animação nos ossos e tiro por raycast.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83400" y="4387652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 errado: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pele dos zumbis aparecia deslocada, e eles encostavam no jogador sem causar dano.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são 5: HUD com vida, contador de inimigos e a arma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812800" y="1677690"/>
            <a:ext cx="5715000" cy="3213100"/>
          </a:xfrm>
          <a:prstGeom prst="roundRect">
            <a:avLst>
              <a:gd name="adj" fmla="val 237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812800" y="496699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88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jogo no commit ec79988: agora há vida no HUD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89750" y="1027906"/>
            <a:ext cx="940495" cy="276820"/>
          </a:xfrm>
          <a:custGeom>
            <a:avLst/>
            <a:gdLst/>
            <a:ahLst/>
            <a:cxnLst/>
            <a:rect l="l" t="t" r="r" b="b"/>
            <a:pathLst>
              <a:path w="940495" h="276820">
                <a:moveTo>
                  <a:pt x="120650" y="0"/>
                </a:moveTo>
                <a:lnTo>
                  <a:pt x="819845" y="0"/>
                </a:lnTo>
                <a:arcTo hR="120650" wR="120650" stAng="16200000" swAng="5400000"/>
                <a:lnTo>
                  <a:pt x="940495" y="156170"/>
                </a:lnTo>
                <a:arcTo hR="120650" wR="120650" stAng="0" swAng="5400000"/>
                <a:lnTo>
                  <a:pt x="120650" y="27682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noFill/>
          <a:ln w="12700">
            <a:solidFill>
              <a:srgbClr val="9C889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IA: Gemini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6883400" y="1438077"/>
            <a:ext cx="463067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FEEDBACK VISUAL DE INIMIGOS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902450" y="2418358"/>
            <a:ext cx="0" cy="2310805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8500" y="2418358"/>
            <a:ext cx="4460621" cy="233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"crie um efeito de flash e um efeito de partículas de sangue para rodar quando um inimigo for acertado utilizando shaders"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e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 skin dos inimigos nesse código está renderizando de maneira errada, ficando deslocada no modelo do personagem, leia o código main e tente identificar aonde pode estar acontecendo este erro"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83400" y="4856163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Veio: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vida do jogador, tela de morte, sangue calculado na GPU e flash vermelho de dano (shaders).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83400" y="5409803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Corrigido: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pele deslocada (flipY de false para true) e um clarão que acendia a boate inteira, agora preso ao cano da arma.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50" y="819150"/>
            <a:ext cx="931168" cy="276820"/>
          </a:xfrm>
          <a:custGeom>
            <a:avLst/>
            <a:gdLst/>
            <a:ahLst/>
            <a:cxnLst/>
            <a:rect l="l" t="t" r="r" b="b"/>
            <a:pathLst>
              <a:path w="931168" h="276820">
                <a:moveTo>
                  <a:pt x="120650" y="0"/>
                </a:moveTo>
                <a:lnTo>
                  <a:pt x="810518" y="0"/>
                </a:lnTo>
                <a:arcTo hR="120650" wR="120650" stAng="16200000" swAng="5400000"/>
                <a:lnTo>
                  <a:pt x="931168" y="156170"/>
                </a:lnTo>
                <a:arcTo hR="120650" wR="120650" stAng="0" swAng="5400000"/>
                <a:lnTo>
                  <a:pt x="120650" y="27682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noFill/>
          <a:ln w="12700">
            <a:solidFill>
              <a:srgbClr val="9C889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IA: Claude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MUDANÇA DE 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82961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Decidimos testar o Claude para incrementar o que havia sido desenvolvido.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336602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Prompt-mestre:</a:t>
            </a: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prompt ao lado foi utilizado como guia para todas as alterações posteriores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890242"/>
            <a:ext cx="46372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Problemas identificados: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1606" y="3230563"/>
            <a:ext cx="4530789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B1 · zumbis atacavam com o jogo pausado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B2 · tiro atravessava as paredes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B3 · zumbis travavam nas quinas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B4 · morria e renascia no mesmo lugar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B5 · não havia condição de vitória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B6 · falha de carregamento silenciosa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B7 · uso de WebGL e não WebGPU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39805" y="812800"/>
            <a:ext cx="0" cy="5333008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85855" y="812800"/>
            <a:ext cx="5658146" cy="535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"Você é um desenvolvedor de jogos 3D para web trabalhando no projeto "Maelstrom Purge",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FPS cyberpunk feito com Three.js + Vite, para a disciplina de Computação Gráfica.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Restrições obrigatórias: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A aplicação DEVE renderizar com WebGPU (THREE.WebGPURenderer, importado de 'three/webgpu').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Não use WebGLRenderer. Shaders devem ser escritos em TSL (Three Shading Language) ou WGSL,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nunca em GLSL / ShaderMaterial / onBeforeCompile.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Mantenha o estilo do código existente (src/main.js, comentários em português, nomes em inglês).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Faça mudanças pequenas e incrementais: uma funcionalidade por prompt.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Antes de alterar, descreva o estado ATUAL do jogo relacionado ao pedido (o "antes").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Depois de alterar, rode `npm run build` e informe qualquer erro ou aviso, sem esconder falhas.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 Ao final, entregue um resumo no formato: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- O que mudou (arquivos e funções)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- Como o jogo ficou (o "depois")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- Erros encontrados e como foram corrigidos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- Riscos / o que ainda pode quebrar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  - Origem de qualquer shader usado (escrito do zero, adaptado de onde, o que foi alterado)"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 Arquidemônio, um Imp gigante de olhos vermelhos, com barra de vida no top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670701"/>
          </a:xfrm>
          <a:prstGeom prst="rect">
            <a:avLst/>
          </a:prstGeom>
          <a:gradFill rotWithShape="1">
            <a:gsLst>
              <a:gs pos="0">
                <a:srgbClr val="120A10">
                  <a:alpha val="92000"/>
                </a:srgbClr>
              </a:gs>
              <a:gs pos="43000">
                <a:srgbClr val="120A10">
                  <a:alpha val="75000"/>
                </a:srgbClr>
              </a:gs>
              <a:gs pos="86000">
                <a:srgbClr val="120A1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9150" y="819150"/>
            <a:ext cx="931168" cy="276820"/>
          </a:xfrm>
          <a:custGeom>
            <a:avLst/>
            <a:gdLst/>
            <a:ahLst/>
            <a:cxnLst/>
            <a:rect l="l" t="t" r="r" b="b"/>
            <a:pathLst>
              <a:path w="931168" h="276820">
                <a:moveTo>
                  <a:pt x="120650" y="0"/>
                </a:moveTo>
                <a:lnTo>
                  <a:pt x="810518" y="0"/>
                </a:lnTo>
                <a:arcTo hR="120650" wR="120650" stAng="16200000" swAng="5400000"/>
                <a:lnTo>
                  <a:pt x="931168" y="156170"/>
                </a:lnTo>
                <a:arcTo hR="120650" wR="120650" stAng="0" swAng="5400000"/>
                <a:lnTo>
                  <a:pt x="120650" y="27682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noFill/>
          <a:ln w="12700">
            <a:solidFill>
              <a:srgbClr val="9C889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IA: Claude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229320"/>
            <a:ext cx="46372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1º PROMPT CLAUDE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31850" y="1782961"/>
            <a:ext cx="0" cy="1919883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7900" y="1782961"/>
            <a:ext cx="4467162" cy="194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"deixei os assets dentro da pasta assets. Lembre-se de registrar como o jogo estava antes de cada prompt, seja com imagens ou videos de gameplay. Agora quero que você deixe um jogo mais dinâmico, mais parecido com doom. Faça o melhor que você puder, use o que precisar pra deixar um jogo divertido e envolvente. Com fases, dificuldade moderada, e lutas emocionantes. A ideia ao final é fazer uma apresentação, por isso que estou pedindo esses registros de evolução, mas nesse momento, foque apenas em deixar esse jogo o melhor de todos"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3829844"/>
            <a:ext cx="4637215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Efeito:</a:t>
            </a: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Este prompt em específico foi o mais demorado de todos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Durou pouco mais de 1 hora, e consumiu 170K tokens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Porém, ele retornou praticamente o jogo inteiro, da forma que está atualmente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CENÁRIO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34380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234380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3B4E"/>
          </a:solidFill>
          <a:ln/>
        </p:spPr>
      </p:sp>
      <p:pic>
        <p:nvPicPr>
          <p:cNvPr id="5" name="Image 0" descr="Totem com listras neon rosa">    </p:cNvPr>
          <p:cNvPicPr>
            <a:picLocks noChangeAspect="1"/>
          </p:cNvPicPr>
          <p:nvPr/>
        </p:nvPicPr>
        <p:blipFill>
          <a:blip r:embed="rId1"/>
          <a:srcRect l="0" r="0" t="12210" b="12210"/>
          <a:stretch/>
        </p:blipFill>
        <p:spPr>
          <a:xfrm>
            <a:off x="812800" y="1272480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6" name="Text 3"/>
          <p:cNvSpPr/>
          <p:nvPr/>
        </p:nvSpPr>
        <p:spPr>
          <a:xfrm>
            <a:off x="952500" y="2834580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Totem neon · Herdou do V1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310376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Listras que sobem e pulsam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77234" y="1234380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9" name="Shape 6"/>
          <p:cNvSpPr/>
          <p:nvPr/>
        </p:nvSpPr>
        <p:spPr>
          <a:xfrm>
            <a:off x="4377234" y="1234380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10" name="Image 1" descr="Parede de painéis metálicos com faixas neon">    </p:cNvPr>
          <p:cNvPicPr>
            <a:picLocks noChangeAspect="1"/>
          </p:cNvPicPr>
          <p:nvPr/>
        </p:nvPicPr>
        <p:blipFill>
          <a:blip r:embed="rId2"/>
          <a:srcRect l="0" r="0" t="12210" b="12210"/>
          <a:stretch/>
        </p:blipFill>
        <p:spPr>
          <a:xfrm>
            <a:off x="4377234" y="1272480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11" name="Text 7"/>
          <p:cNvSpPr/>
          <p:nvPr/>
        </p:nvSpPr>
        <p:spPr>
          <a:xfrm>
            <a:off x="4516934" y="2834580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Paredes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16934" y="310376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Painéis e faixas na cor da fase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41667" y="1234380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14" name="Shape 10"/>
          <p:cNvSpPr/>
          <p:nvPr/>
        </p:nvSpPr>
        <p:spPr>
          <a:xfrm>
            <a:off x="7941667" y="1234380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15" name="Image 2" descr="Caixotes com faixa de perigo amarela e cantos neon">    </p:cNvPr>
          <p:cNvPicPr>
            <a:picLocks noChangeAspect="1"/>
          </p:cNvPicPr>
          <p:nvPr/>
        </p:nvPicPr>
        <p:blipFill>
          <a:blip r:embed="rId3"/>
          <a:srcRect l="0" r="0" t="12210" b="12210"/>
          <a:stretch/>
        </p:blipFill>
        <p:spPr>
          <a:xfrm>
            <a:off x="7941667" y="1272480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16" name="Text 11"/>
          <p:cNvSpPr/>
          <p:nvPr/>
        </p:nvSpPr>
        <p:spPr>
          <a:xfrm>
            <a:off x="8081367" y="2834580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Caixotes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81367" y="310376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Faixa de perigo e cantos em neon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800" y="3545681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19" name="Shape 14"/>
          <p:cNvSpPr/>
          <p:nvPr/>
        </p:nvSpPr>
        <p:spPr>
          <a:xfrm>
            <a:off x="812800" y="3545681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20" name="Image 3" descr="Chão escuro com grade de linhas rosa">    </p:cNvPr>
          <p:cNvPicPr>
            <a:picLocks noChangeAspect="1"/>
          </p:cNvPicPr>
          <p:nvPr/>
        </p:nvPicPr>
        <p:blipFill>
          <a:blip r:embed="rId4"/>
          <a:srcRect l="0" r="0" t="12210" b="12210"/>
          <a:stretch/>
        </p:blipFill>
        <p:spPr>
          <a:xfrm>
            <a:off x="812800" y="3583781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21" name="Text 15"/>
          <p:cNvSpPr/>
          <p:nvPr/>
        </p:nvSpPr>
        <p:spPr>
          <a:xfrm>
            <a:off x="952500" y="5145881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Chão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52500" y="5415062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Grade que some com a distância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77234" y="3545681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24" name="Shape 18"/>
          <p:cNvSpPr/>
          <p:nvPr/>
        </p:nvSpPr>
        <p:spPr>
          <a:xfrm>
            <a:off x="4377234" y="3545681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25" name="Image 4" descr="Superfície de lava laranja com manchas escuras">    </p:cNvPr>
          <p:cNvPicPr>
            <a:picLocks noChangeAspect="1"/>
          </p:cNvPicPr>
          <p:nvPr/>
        </p:nvPicPr>
        <p:blipFill>
          <a:blip r:embed="rId5"/>
          <a:srcRect l="0" r="0" t="12210" b="12210"/>
          <a:stretch/>
        </p:blipFill>
        <p:spPr>
          <a:xfrm>
            <a:off x="4377234" y="3583781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26" name="Text 19"/>
          <p:cNvSpPr/>
          <p:nvPr/>
        </p:nvSpPr>
        <p:spPr>
          <a:xfrm>
            <a:off x="4516934" y="5145881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Lava e ácido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16934" y="5415062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Ruído fractal animado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941667" y="3545681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29" name="Shape 22"/>
          <p:cNvSpPr/>
          <p:nvPr/>
        </p:nvSpPr>
        <p:spPr>
          <a:xfrm>
            <a:off x="7941667" y="3545681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30" name="Image 5" descr="Céu avermelhado com nuvens">    </p:cNvPr>
          <p:cNvPicPr>
            <a:picLocks noChangeAspect="1"/>
          </p:cNvPicPr>
          <p:nvPr/>
        </p:nvPicPr>
        <p:blipFill>
          <a:blip r:embed="rId6"/>
          <a:srcRect l="0" r="0" t="12210" b="12210"/>
          <a:stretch/>
        </p:blipFill>
        <p:spPr>
          <a:xfrm>
            <a:off x="7941667" y="3583781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31" name="Text 23"/>
          <p:cNvSpPr/>
          <p:nvPr/>
        </p:nvSpPr>
        <p:spPr>
          <a:xfrm>
            <a:off x="8081367" y="5145881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Céu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081367" y="5415062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Nuvens de ruído e relâmpagos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TIROS, EXPLOSÕES E MAGIA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34380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234380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3B4E"/>
          </a:solidFill>
          <a:ln/>
        </p:spPr>
      </p:sp>
      <p:pic>
        <p:nvPicPr>
          <p:cNvPr id="5" name="Image 0" descr="Sangue vermelho, faíscas e explosão azul em pleno voo">    </p:cNvPr>
          <p:cNvPicPr>
            <a:picLocks noChangeAspect="1"/>
          </p:cNvPicPr>
          <p:nvPr/>
        </p:nvPicPr>
        <p:blipFill>
          <a:blip r:embed="rId1"/>
          <a:srcRect l="0" r="0" t="12210" b="12210"/>
          <a:stretch/>
        </p:blipFill>
        <p:spPr>
          <a:xfrm>
            <a:off x="812800" y="1272480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6" name="Text 3"/>
          <p:cNvSpPr/>
          <p:nvPr/>
        </p:nvSpPr>
        <p:spPr>
          <a:xfrm>
            <a:off x="952500" y="2834580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Partículas · do Gemini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310376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Sangue, faíscas e explosões na GPU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77234" y="1234380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9" name="Shape 6"/>
          <p:cNvSpPr/>
          <p:nvPr/>
        </p:nvSpPr>
        <p:spPr>
          <a:xfrm>
            <a:off x="4377234" y="1234380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10" name="Image 1" descr="Três esferas brilhantes: laranja, roxa e azul">    </p:cNvPr>
          <p:cNvPicPr>
            <a:picLocks noChangeAspect="1"/>
          </p:cNvPicPr>
          <p:nvPr/>
        </p:nvPicPr>
        <p:blipFill>
          <a:blip r:embed="rId2"/>
          <a:srcRect l="0" r="0" t="12210" b="12210"/>
          <a:stretch/>
        </p:blipFill>
        <p:spPr>
          <a:xfrm>
            <a:off x="4377234" y="1272480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11" name="Text 7"/>
          <p:cNvSpPr/>
          <p:nvPr/>
        </p:nvSpPr>
        <p:spPr>
          <a:xfrm>
            <a:off x="4516934" y="2834580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Bolas de fogo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16934" y="310376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Fogo, vazio e plasma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41667" y="1234380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14" name="Shape 10"/>
          <p:cNvSpPr/>
          <p:nvPr/>
        </p:nvSpPr>
        <p:spPr>
          <a:xfrm>
            <a:off x="7941667" y="1234380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15" name="Image 2" descr="Portal circular ciano com espiral">    </p:cNvPr>
          <p:cNvPicPr>
            <a:picLocks noChangeAspect="1"/>
          </p:cNvPicPr>
          <p:nvPr/>
        </p:nvPicPr>
        <p:blipFill>
          <a:blip r:embed="rId3"/>
          <a:srcRect l="0" r="0" t="12210" b="12210"/>
          <a:stretch/>
        </p:blipFill>
        <p:spPr>
          <a:xfrm>
            <a:off x="7941667" y="1272480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16" name="Text 11"/>
          <p:cNvSpPr/>
          <p:nvPr/>
        </p:nvSpPr>
        <p:spPr>
          <a:xfrm>
            <a:off x="8081367" y="2834580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81367" y="3103761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Espiral que abre ao fim da fase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800" y="3545681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19" name="Shape 14"/>
          <p:cNvSpPr/>
          <p:nvPr/>
        </p:nvSpPr>
        <p:spPr>
          <a:xfrm>
            <a:off x="812800" y="3545681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20" name="Image 3" descr="Traçante amarelo, raio roxo da railgun e raio elétrico azul">    </p:cNvPr>
          <p:cNvPicPr>
            <a:picLocks noChangeAspect="1"/>
          </p:cNvPicPr>
          <p:nvPr/>
        </p:nvPicPr>
        <p:blipFill>
          <a:blip r:embed="rId4"/>
          <a:srcRect l="0" r="0" t="12210" b="12210"/>
          <a:stretch/>
        </p:blipFill>
        <p:spPr>
          <a:xfrm>
            <a:off x="812800" y="3583781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21" name="Text 15"/>
          <p:cNvSpPr/>
          <p:nvPr/>
        </p:nvSpPr>
        <p:spPr>
          <a:xfrm>
            <a:off x="952500" y="5145881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Raios e traçantes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52500" y="5415062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Tiro, railgun e lança-raios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77234" y="3545681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1E121B"/>
          </a:solidFill>
          <a:ln/>
        </p:spPr>
      </p:sp>
      <p:sp>
        <p:nvSpPr>
          <p:cNvPr id="24" name="Shape 18"/>
          <p:cNvSpPr/>
          <p:nvPr/>
        </p:nvSpPr>
        <p:spPr>
          <a:xfrm>
            <a:off x="4377234" y="3545681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4FE3F0"/>
          </a:solidFill>
          <a:ln/>
        </p:spPr>
      </p:sp>
      <p:pic>
        <p:nvPicPr>
          <p:cNvPr id="25" name="Image 4" descr="Anel laranja brilhante se expandindo no chão">    </p:cNvPr>
          <p:cNvPicPr>
            <a:picLocks noChangeAspect="1"/>
          </p:cNvPicPr>
          <p:nvPr/>
        </p:nvPicPr>
        <p:blipFill>
          <a:blip r:embed="rId5"/>
          <a:srcRect l="0" r="0" t="12210" b="12210"/>
          <a:stretch/>
        </p:blipFill>
        <p:spPr>
          <a:xfrm>
            <a:off x="4377234" y="3583781"/>
            <a:ext cx="3435350" cy="1460500"/>
          </a:xfrm>
          <a:custGeom>
            <a:avLst/>
            <a:gdLst/>
            <a:ahLst/>
            <a:cxnLst/>
            <a:rect l="l" t="t" r="r" b="b"/>
            <a:pathLst>
              <a:path w="3435350" h="1460500">
                <a:moveTo>
                  <a:pt x="0" y="57150"/>
                </a:moveTo>
                <a:arcTo wR="57150" hR="57150" stAng="10800000" swAng="5400000"/>
                <a:lnTo>
                  <a:pt x="3378200" y="0"/>
                </a:lnTo>
                <a:arcTo wR="57150" hR="57150" stAng="16200000" swAng="5400000"/>
                <a:lnTo>
                  <a:pt x="3435350" y="1460500"/>
                </a:lnTo>
                <a:lnTo>
                  <a:pt x="0" y="1460500"/>
                </a:lnTo>
                <a:close/>
              </a:path>
            </a:pathLst>
          </a:custGeom>
        </p:spPr>
      </p:pic>
      <p:sp>
        <p:nvSpPr>
          <p:cNvPr id="26" name="Text 19"/>
          <p:cNvSpPr/>
          <p:nvPr/>
        </p:nvSpPr>
        <p:spPr>
          <a:xfrm>
            <a:off x="4516934" y="5145881"/>
            <a:ext cx="32527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Onda de choque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16934" y="5415062"/>
            <a:ext cx="3252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Pancada do chefe no chão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941667" y="3545681"/>
            <a:ext cx="3437434" cy="2184301"/>
          </a:xfrm>
          <a:prstGeom prst="roundRect">
            <a:avLst>
              <a:gd name="adj" fmla="val 3489"/>
            </a:avLst>
          </a:prstGeom>
          <a:solidFill>
            <a:srgbClr val="2A1424"/>
          </a:solidFill>
          <a:ln/>
        </p:spPr>
      </p:sp>
      <p:sp>
        <p:nvSpPr>
          <p:cNvPr id="29" name="Shape 22"/>
          <p:cNvSpPr/>
          <p:nvPr/>
        </p:nvSpPr>
        <p:spPr>
          <a:xfrm>
            <a:off x="7941667" y="3545681"/>
            <a:ext cx="3437434" cy="2184301"/>
          </a:xfrm>
          <a:custGeom>
            <a:avLst/>
            <a:gdLst/>
            <a:ahLst/>
            <a:cxnLst/>
            <a:rect l="l" t="t" r="r" b="b"/>
            <a:pathLst>
              <a:path w="3437434" h="218430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61234" y="0"/>
                </a:lnTo>
                <a:arcTo hR="76200" wR="76200" stAng="16200000" swAng="5400000"/>
                <a:lnTo>
                  <a:pt x="3437434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A340"/>
          </a:solidFill>
          <a:ln/>
        </p:spPr>
      </p:sp>
      <p:sp>
        <p:nvSpPr>
          <p:cNvPr id="30" name="Text 23"/>
          <p:cNvSpPr/>
          <p:nvPr/>
        </p:nvSpPr>
        <p:spPr>
          <a:xfrm>
            <a:off x="8144867" y="4176911"/>
            <a:ext cx="31219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Tudo instantâneo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144867" y="4496891"/>
            <a:ext cx="312196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efeito é um único material reaproveitado: criar um efeito novo não trava o jogo.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ESTADOS DOS INIMIGOS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9950" y="1234380"/>
            <a:ext cx="2413000" cy="3251200"/>
          </a:xfrm>
          <a:prstGeom prst="roundRect">
            <a:avLst>
              <a:gd name="adj" fmla="val 3158"/>
            </a:avLst>
          </a:prstGeom>
          <a:solidFill>
            <a:srgbClr val="0E070C"/>
          </a:solidFill>
          <a:ln/>
        </p:spPr>
      </p:sp>
      <p:pic>
        <p:nvPicPr>
          <p:cNvPr id="4" name="Image 0" descr="Imp normal, com olhos brilhando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869950" y="1234380"/>
            <a:ext cx="2413000" cy="3251200"/>
          </a:xfrm>
          <a:prstGeom prst="roundRect">
            <a:avLst>
              <a:gd name="adj" fmla="val 3158"/>
            </a:avLst>
          </a:prstGeom>
        </p:spPr>
      </p:pic>
      <p:sp>
        <p:nvSpPr>
          <p:cNvPr id="5" name="Text 2"/>
          <p:cNvSpPr/>
          <p:nvPr/>
        </p:nvSpPr>
        <p:spPr>
          <a:xfrm>
            <a:off x="1659969" y="4561780"/>
            <a:ext cx="83296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7636" y="4881761"/>
            <a:ext cx="21375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Olhos com mapa emissivo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49650" y="1234380"/>
            <a:ext cx="2413000" cy="3251200"/>
          </a:xfrm>
          <a:prstGeom prst="roundRect">
            <a:avLst>
              <a:gd name="adj" fmla="val 3158"/>
            </a:avLst>
          </a:prstGeom>
          <a:solidFill>
            <a:srgbClr val="0E070C"/>
          </a:solidFill>
          <a:ln/>
        </p:spPr>
      </p:sp>
      <p:pic>
        <p:nvPicPr>
          <p:cNvPr id="8" name="Image 1" descr="Imp avermelhado pelo flash de dano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3549650" y="1234380"/>
            <a:ext cx="2413000" cy="3251200"/>
          </a:xfrm>
          <a:prstGeom prst="roundRect">
            <a:avLst>
              <a:gd name="adj" fmla="val 3158"/>
            </a:avLst>
          </a:prstGeom>
        </p:spPr>
      </p:pic>
      <p:sp>
        <p:nvSpPr>
          <p:cNvPr id="9" name="Text 5"/>
          <p:cNvSpPr/>
          <p:nvPr/>
        </p:nvSpPr>
        <p:spPr>
          <a:xfrm>
            <a:off x="4113222" y="4561780"/>
            <a:ext cx="128575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Levou dano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31351" y="4881761"/>
            <a:ext cx="2649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Flash vermelho (vem do Gemini)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29350" y="1234380"/>
            <a:ext cx="2413000" cy="3251200"/>
          </a:xfrm>
          <a:prstGeom prst="roundRect">
            <a:avLst>
              <a:gd name="adj" fmla="val 3158"/>
            </a:avLst>
          </a:prstGeom>
          <a:solidFill>
            <a:srgbClr val="0E070C"/>
          </a:solidFill>
          <a:ln/>
        </p:spPr>
      </p:sp>
      <p:pic>
        <p:nvPicPr>
          <p:cNvPr id="12" name="Image 2" descr="Imp brilhando em amarelo-alaranjado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229350" y="1234380"/>
            <a:ext cx="2413000" cy="3251200"/>
          </a:xfrm>
          <a:prstGeom prst="roundRect">
            <a:avLst>
              <a:gd name="adj" fmla="val 3158"/>
            </a:avLst>
          </a:prstGeom>
        </p:spPr>
      </p:pic>
      <p:sp>
        <p:nvSpPr>
          <p:cNvPr id="13" name="Text 8"/>
          <p:cNvSpPr/>
          <p:nvPr/>
        </p:nvSpPr>
        <p:spPr>
          <a:xfrm>
            <a:off x="6842800" y="4561780"/>
            <a:ext cx="118610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Atordoado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18007" y="4881761"/>
            <a:ext cx="18355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Pulso laranja: aperte F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909050" y="1234380"/>
            <a:ext cx="2413000" cy="3251200"/>
          </a:xfrm>
          <a:prstGeom prst="roundRect">
            <a:avLst>
              <a:gd name="adj" fmla="val 3158"/>
            </a:avLst>
          </a:prstGeom>
          <a:solidFill>
            <a:srgbClr val="0E070C"/>
          </a:solidFill>
          <a:ln/>
        </p:spPr>
      </p:sp>
      <p:pic>
        <p:nvPicPr>
          <p:cNvPr id="16" name="Image 3" descr="Imp se desfazendo em manchas com borda incandescente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8909050" y="1234380"/>
            <a:ext cx="2413000" cy="3251200"/>
          </a:xfrm>
          <a:prstGeom prst="roundRect">
            <a:avLst>
              <a:gd name="adj" fmla="val 3158"/>
            </a:avLst>
          </a:prstGeom>
        </p:spPr>
      </p:pic>
      <p:sp>
        <p:nvSpPr>
          <p:cNvPr id="17" name="Text 11"/>
          <p:cNvSpPr/>
          <p:nvPr/>
        </p:nvSpPr>
        <p:spPr>
          <a:xfrm>
            <a:off x="9429046" y="4561780"/>
            <a:ext cx="13729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Dissolvendo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142214" y="4881761"/>
            <a:ext cx="19466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Ruído 3D apaga o corpo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60798"/>
            <a:ext cx="3662680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UM ÚLTIMO SHADER POR CIMA DE TUDO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3307159"/>
            <a:ext cx="3662680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de desenhar o mundo e a arma separados, um shader junta as duas imagens, faz o neon brilhar (bloom) e pinta as bordas para dar feedback.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4383881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Bloom: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único efeito pronto, do Three.js.</a:t>
            </a:r>
            <a:endParaRPr lang="en-US" sz="1200" dirty="0"/>
          </a:p>
        </p:txBody>
      </p:sp>
      <p:pic>
        <p:nvPicPr>
          <p:cNvPr id="5" name="Image 0" descr="Cena normal com o brilho do neon">    </p:cNvPr>
          <p:cNvPicPr>
            <a:picLocks noChangeAspect="1"/>
          </p:cNvPicPr>
          <p:nvPr/>
        </p:nvPicPr>
        <p:blipFill>
          <a:blip r:embed="rId1"/>
          <a:srcRect l="85" r="85" t="0" b="0"/>
          <a:stretch/>
        </p:blipFill>
        <p:spPr>
          <a:xfrm>
            <a:off x="4673600" y="1266230"/>
            <a:ext cx="3302000" cy="1860550"/>
          </a:xfrm>
          <a:prstGeom prst="roundRect">
            <a:avLst>
              <a:gd name="adj" fmla="val 3413"/>
            </a:avLst>
          </a:prstGeom>
        </p:spPr>
      </p:pic>
      <p:sp>
        <p:nvSpPr>
          <p:cNvPr id="6" name="Text 3"/>
          <p:cNvSpPr/>
          <p:nvPr/>
        </p:nvSpPr>
        <p:spPr>
          <a:xfrm>
            <a:off x="4673600" y="316488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Normal, com bloom</a:t>
            </a:r>
            <a:endParaRPr lang="en-US" sz="1200" dirty="0"/>
          </a:p>
        </p:txBody>
      </p:sp>
      <p:pic>
        <p:nvPicPr>
          <p:cNvPr id="7" name="Image 1" descr="Mesma cena com bordas vermelhas de dano">    </p:cNvPr>
          <p:cNvPicPr>
            <a:picLocks noChangeAspect="1"/>
          </p:cNvPicPr>
          <p:nvPr/>
        </p:nvPicPr>
        <p:blipFill>
          <a:blip r:embed="rId2"/>
          <a:srcRect l="85" r="85" t="0" b="0"/>
          <a:stretch/>
        </p:blipFill>
        <p:spPr>
          <a:xfrm>
            <a:off x="8077200" y="1266230"/>
            <a:ext cx="3302000" cy="1860550"/>
          </a:xfrm>
          <a:prstGeom prst="roundRect">
            <a:avLst>
              <a:gd name="adj" fmla="val 3413"/>
            </a:avLst>
          </a:prstGeom>
        </p:spPr>
      </p:pic>
      <p:sp>
        <p:nvSpPr>
          <p:cNvPr id="8" name="Text 4"/>
          <p:cNvSpPr/>
          <p:nvPr/>
        </p:nvSpPr>
        <p:spPr>
          <a:xfrm>
            <a:off x="8077200" y="316488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Levando dano</a:t>
            </a:r>
            <a:endParaRPr lang="en-US" sz="1200" dirty="0"/>
          </a:p>
        </p:txBody>
      </p:sp>
      <p:pic>
        <p:nvPicPr>
          <p:cNvPr id="9" name="Image 2" descr="Mesma cena com bordas verdes de cura">    </p:cNvPr>
          <p:cNvPicPr>
            <a:picLocks noChangeAspect="1"/>
          </p:cNvPicPr>
          <p:nvPr/>
        </p:nvPicPr>
        <p:blipFill>
          <a:blip r:embed="rId3"/>
          <a:srcRect l="85" r="85" t="0" b="0"/>
          <a:stretch/>
        </p:blipFill>
        <p:spPr>
          <a:xfrm>
            <a:off x="4673600" y="3479800"/>
            <a:ext cx="3302000" cy="1860550"/>
          </a:xfrm>
          <a:prstGeom prst="roundRect">
            <a:avLst>
              <a:gd name="adj" fmla="val 3413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4673600" y="537845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9FF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Pegou vida</a:t>
            </a:r>
            <a:endParaRPr lang="en-US" sz="1200" dirty="0"/>
          </a:p>
        </p:txBody>
      </p:sp>
      <p:pic>
        <p:nvPicPr>
          <p:cNvPr id="11" name="Image 3" descr="Mesma cena sem cor, no pause">    </p:cNvPr>
          <p:cNvPicPr>
            <a:picLocks noChangeAspect="1"/>
          </p:cNvPicPr>
          <p:nvPr/>
        </p:nvPicPr>
        <p:blipFill>
          <a:blip r:embed="rId4"/>
          <a:srcRect l="85" r="85" t="0" b="0"/>
          <a:stretch/>
        </p:blipFill>
        <p:spPr>
          <a:xfrm>
            <a:off x="8077200" y="3479800"/>
            <a:ext cx="3302000" cy="1860550"/>
          </a:xfrm>
          <a:prstGeom prst="roundRect">
            <a:avLst>
              <a:gd name="adj" fmla="val 3413"/>
            </a:avLst>
          </a:prstGeom>
        </p:spPr>
      </p:pic>
      <p:sp>
        <p:nvSpPr>
          <p:cNvPr id="12" name="Text 6"/>
          <p:cNvSpPr/>
          <p:nvPr/>
        </p:nvSpPr>
        <p:spPr>
          <a:xfrm>
            <a:off x="8077200" y="537845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Pausado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RIGGING DOS INIMIGOS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41"/>
            <a:ext cx="5181600" cy="2377182"/>
          </a:xfrm>
          <a:prstGeom prst="roundRect">
            <a:avLst>
              <a:gd name="adj" fmla="val 3205"/>
            </a:avLst>
          </a:prstGeom>
          <a:solidFill>
            <a:srgbClr val="1E121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441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 procedural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2245221"/>
            <a:ext cx="48138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modelos vieram em T-pose e sem animações. Cada osso é girado em código, no espaço do modelo: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798862"/>
            <a:ext cx="48138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3EC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L′ = P⁻¹ · D · P · 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3316982"/>
            <a:ext cx="48138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mesma pose de caminhar, arremessar ou cair funciona no Imp, no Puglin e no zumbi, apesar dos eixos diferentes de cada exportador.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620441"/>
            <a:ext cx="5181600" cy="2377182"/>
          </a:xfrm>
          <a:prstGeom prst="roundRect">
            <a:avLst>
              <a:gd name="adj" fmla="val 3205"/>
            </a:avLst>
          </a:prstGeom>
          <a:solidFill>
            <a:srgbClr val="1E121B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1874441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Mapa em grade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1600" y="2245221"/>
            <a:ext cx="492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Raycast DDA 3D: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tiro para na parede, no pilar ou no chão (bug B2).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51600" y="2585541"/>
            <a:ext cx="48138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Campo de fluxo (BFS):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distância de cada célula até o jogador guia os inimigos em volta dos obstáculos (bug B3).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51600" y="3139182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Hitbox de cabeça: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esfera no osso da cabeça, 1,5× de dano.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993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MECÂNICAS</a:t>
            </a:r>
            <a:endParaRPr lang="en-US" sz="3600" dirty="0"/>
          </a:p>
        </p:txBody>
      </p:sp>
      <p:pic>
        <p:nvPicPr>
          <p:cNvPr id="3" name="Image 0" descr="Imp atordoado brilhando laranja com a dica F executar">    </p:cNvPr>
          <p:cNvPicPr>
            <a:picLocks noChangeAspect="1"/>
          </p:cNvPicPr>
          <p:nvPr/>
        </p:nvPicPr>
        <p:blipFill>
          <a:blip r:embed="rId1"/>
          <a:srcRect l="58" r="58" t="0" b="0"/>
          <a:stretch/>
        </p:blipFill>
        <p:spPr>
          <a:xfrm>
            <a:off x="812800" y="1568450"/>
            <a:ext cx="4826000" cy="2717800"/>
          </a:xfrm>
          <a:prstGeom prst="roundRect">
            <a:avLst>
              <a:gd name="adj" fmla="val 2804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4362450"/>
            <a:ext cx="5791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Inimigo atordoado brilha laranja: aperte F para executar e ganhar vida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892800" y="1568450"/>
            <a:ext cx="56575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armas</a:t>
            </a:r>
            <a:r>
              <a:rPr lang="en-US" sz="14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 pistola ao lança-raios, que salta entre 3 inimigos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92800" y="1944291"/>
            <a:ext cx="56575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inimigos</a:t>
            </a:r>
            <a:r>
              <a:rPr lang="en-US" sz="14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papéis diferentes: lento, rápido, à distância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92800" y="2320131"/>
            <a:ext cx="56575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A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Bolas de fogo visíveis</a:t>
            </a:r>
            <a:r>
              <a:rPr lang="en-US" sz="14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dá para desviar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92800" y="2695972"/>
            <a:ext cx="56575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Dash, pulo e movimento rápido</a:t>
            </a:r>
            <a:r>
              <a:rPr lang="en-US" sz="14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(10,5 m/s)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FASES</a:t>
            </a:r>
            <a:endParaRPr lang="en-US" sz="3600" dirty="0"/>
          </a:p>
        </p:txBody>
      </p:sp>
      <p:pic>
        <p:nvPicPr>
          <p:cNvPr id="3" name="Image 0" descr="Fase 1 Totentanz, neon rosa">    </p:cNvPr>
          <p:cNvPicPr>
            <a:picLocks noChangeAspect="1"/>
          </p:cNvPicPr>
          <p:nvPr/>
        </p:nvPicPr>
        <p:blipFill>
          <a:blip r:embed="rId1"/>
          <a:srcRect l="97" r="97" t="0" b="0"/>
          <a:stretch/>
        </p:blipFill>
        <p:spPr>
          <a:xfrm>
            <a:off x="812800" y="1569641"/>
            <a:ext cx="2546350" cy="1435100"/>
          </a:xfrm>
          <a:prstGeom prst="roundRect">
            <a:avLst>
              <a:gd name="adj" fmla="val 4425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3080941"/>
            <a:ext cx="26227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Totentanz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3400921"/>
            <a:ext cx="26227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boate. Zumbis, Puglins e os primeiros Imps</a:t>
            </a:r>
            <a:endParaRPr lang="en-US" sz="1200" dirty="0"/>
          </a:p>
        </p:txBody>
      </p:sp>
      <p:pic>
        <p:nvPicPr>
          <p:cNvPr id="6" name="Image 1" descr="Fase 2 Depósito, laranja com caixotes">    </p:cNvPr>
          <p:cNvPicPr>
            <a:picLocks noChangeAspect="1"/>
          </p:cNvPicPr>
          <p:nvPr/>
        </p:nvPicPr>
        <p:blipFill>
          <a:blip r:embed="rId2"/>
          <a:srcRect l="97" r="97" t="0" b="0"/>
          <a:stretch/>
        </p:blipFill>
        <p:spPr>
          <a:xfrm>
            <a:off x="3486150" y="1569641"/>
            <a:ext cx="2546350" cy="1435100"/>
          </a:xfrm>
          <a:prstGeom prst="roundRect">
            <a:avLst>
              <a:gd name="adj" fmla="val 4425"/>
            </a:avLst>
          </a:prstGeom>
        </p:spPr>
      </p:pic>
      <p:sp>
        <p:nvSpPr>
          <p:cNvPr id="7" name="Text 3"/>
          <p:cNvSpPr/>
          <p:nvPr/>
        </p:nvSpPr>
        <p:spPr>
          <a:xfrm>
            <a:off x="3486150" y="3080941"/>
            <a:ext cx="26227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Depósito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86150" y="3400921"/>
            <a:ext cx="26227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Caixotes como cobertura, Imp de Elite</a:t>
            </a:r>
            <a:endParaRPr lang="en-US" sz="1200" dirty="0"/>
          </a:p>
        </p:txBody>
      </p:sp>
      <p:pic>
        <p:nvPicPr>
          <p:cNvPr id="9" name="Image 2" descr="Fase 3 Docas, verde com ácido">    </p:cNvPr>
          <p:cNvPicPr>
            <a:picLocks noChangeAspect="1"/>
          </p:cNvPicPr>
          <p:nvPr/>
        </p:nvPicPr>
        <p:blipFill>
          <a:blip r:embed="rId3"/>
          <a:srcRect l="97" r="97" t="0" b="0"/>
          <a:stretch/>
        </p:blipFill>
        <p:spPr>
          <a:xfrm>
            <a:off x="6159500" y="1569641"/>
            <a:ext cx="2546350" cy="1435100"/>
          </a:xfrm>
          <a:prstGeom prst="roundRect">
            <a:avLst>
              <a:gd name="adj" fmla="val 4425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159500" y="3080941"/>
            <a:ext cx="26227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Docas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159500" y="3400921"/>
            <a:ext cx="26227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Poças de ácido que causam dano, railgun</a:t>
            </a:r>
            <a:endParaRPr lang="en-US" sz="1200" dirty="0"/>
          </a:p>
        </p:txBody>
      </p:sp>
      <p:pic>
        <p:nvPicPr>
          <p:cNvPr id="12" name="Image 3" descr="Fase 4 Coração do Maelstrom, vermelho com lava">    </p:cNvPr>
          <p:cNvPicPr>
            <a:picLocks noChangeAspect="1"/>
          </p:cNvPicPr>
          <p:nvPr/>
        </p:nvPicPr>
        <p:blipFill>
          <a:blip r:embed="rId4"/>
          <a:srcRect l="97" r="97" t="0" b="0"/>
          <a:stretch/>
        </p:blipFill>
        <p:spPr>
          <a:xfrm>
            <a:off x="8832850" y="1569641"/>
            <a:ext cx="2546350" cy="1435100"/>
          </a:xfrm>
          <a:prstGeom prst="roundRect">
            <a:avLst>
              <a:gd name="adj" fmla="val 4425"/>
            </a:avLst>
          </a:prstGeom>
        </p:spPr>
      </p:pic>
      <p:sp>
        <p:nvSpPr>
          <p:cNvPr id="13" name="Text 7"/>
          <p:cNvSpPr/>
          <p:nvPr/>
        </p:nvSpPr>
        <p:spPr>
          <a:xfrm>
            <a:off x="8832850" y="3080941"/>
            <a:ext cx="26227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Coração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832850" y="340092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Arena de lava e o Arquidemônio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12800" y="408156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fase: ondas de inimigos → portal abre → tela de estatísticas → próxima fase.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41"/>
          <a:ext cx="10553700" cy="1662906"/>
        </p:xfrm>
        <a:graphic>
          <a:graphicData uri="http://schemas.openxmlformats.org/drawingml/2006/table">
            <a:tbl>
              <a:tblPr/>
              <a:tblGrid>
                <a:gridCol w="1583055"/>
                <a:gridCol w="1266444"/>
                <a:gridCol w="1583055"/>
                <a:gridCol w="2110740"/>
                <a:gridCol w="1899666"/>
                <a:gridCol w="211074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Ondas · inimigos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Inimigo novo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Arma nova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Terreno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· Totentanz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96 × 84 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· 35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Zumbi, Puglin e Imp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Escopeta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Aberto, 6 caixotes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· Depósito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104 × 72 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· 41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 de Elite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Metralhadora e Plasma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 caixotes, lava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· Docas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112 × 80 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· 44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Imps de Elite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Railgun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 poças de ácido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· Coração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120 × 72 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· 12 + reforços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Arquidemônio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Lança-raios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Arena de lava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499247"/>
            <a:ext cx="3420467" cy="995561"/>
          </a:xfrm>
          <a:prstGeom prst="roundRect">
            <a:avLst>
              <a:gd name="adj" fmla="val 7654"/>
            </a:avLst>
          </a:prstGeom>
          <a:solidFill>
            <a:srgbClr val="1E121B"/>
          </a:solidFill>
          <a:ln/>
        </p:spPr>
        <p:txBody>
          <a:bodyPr wrap="square" lIns="155482" tIns="155482" rIns="63536" bIns="1300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Ritmo: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próxima onda chega quando restam 20% da atual; as ondas vão de 5 a 12 inimigos.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85667" y="3499247"/>
            <a:ext cx="3420566" cy="995561"/>
          </a:xfrm>
          <a:prstGeom prst="roundRect">
            <a:avLst>
              <a:gd name="adj" fmla="val 7654"/>
            </a:avLst>
          </a:prstGeom>
          <a:solidFill>
            <a:srgbClr val="1E121B"/>
          </a:solidFill>
          <a:ln/>
        </p:spPr>
        <p:txBody>
          <a:bodyPr wrap="square" lIns="155482" tIns="155482" rIns="63533" bIns="1300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Mistura: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os tipos de inimigo vêm embaralhados e nascem nos pontos mais longe de você.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8634" y="3499247"/>
            <a:ext cx="3420566" cy="995561"/>
          </a:xfrm>
          <a:prstGeom prst="roundRect">
            <a:avLst>
              <a:gd name="adj" fmla="val 7654"/>
            </a:avLst>
          </a:prstGeom>
          <a:solidFill>
            <a:srgbClr val="1E121B"/>
          </a:solidFill>
          <a:ln/>
        </p:spPr>
        <p:txBody>
          <a:bodyPr wrap="square" lIns="155482" tIns="155482" rIns="63533" bIns="1554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Pelo menu: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começar direto numa fase dá as armas das fases anteriores.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DIFICULDADES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41"/>
          <a:ext cx="10553700" cy="2745978"/>
        </p:xfrm>
        <a:graphic>
          <a:graphicData uri="http://schemas.openxmlformats.org/drawingml/2006/table">
            <a:tbl>
              <a:tblPr/>
              <a:tblGrid>
                <a:gridCol w="4538091"/>
                <a:gridCol w="2005203"/>
                <a:gridCol w="2005203"/>
                <a:gridCol w="2005203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muda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Fácil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Normal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Pesadelo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1D22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Vida dos inimigos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×0,8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×1,25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4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Dano que você recebe (golpes, fogo, lava, onda de choque)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×0,6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×1,5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Velocidade das bolas de fogo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×0,85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×1,2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Ex.: vida do Imp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Ex.: bola de fogo do Imp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· 14 m/s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 · 17 m/s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 · 20 m/s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Ex.: vida do Arquidemônio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3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8231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muda:</a:t>
            </a:r>
            <a:r>
              <a:rPr lang="en-US" sz="14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quantidade de inimigos e ondas, itens no mapa, sua vida (100) e suas armas.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993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ASSETS UTILIZADOS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885950"/>
            <a:ext cx="3405684" cy="3162300"/>
          </a:xfrm>
          <a:prstGeom prst="roundRect">
            <a:avLst>
              <a:gd name="adj" fmla="val 2410"/>
            </a:avLst>
          </a:prstGeom>
          <a:solidFill>
            <a:srgbClr val="1E121B"/>
          </a:solidFill>
          <a:ln/>
        </p:spPr>
      </p:sp>
      <p:pic>
        <p:nvPicPr>
          <p:cNvPr id="4" name="Image 0" descr="Prévia oficial do pacote Bestiary Dungeon Monsters com sete monstros">    </p:cNvPr>
          <p:cNvPicPr>
            <a:picLocks noChangeAspect="1"/>
          </p:cNvPicPr>
          <p:nvPr/>
        </p:nvPicPr>
        <p:blipFill>
          <a:blip r:embed="rId1"/>
          <a:srcRect l="0" r="0" t="20" b="20"/>
          <a:stretch/>
        </p:blipFill>
        <p:spPr>
          <a:xfrm>
            <a:off x="990600" y="2063750"/>
            <a:ext cx="304800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5" name="Text 2"/>
          <p:cNvSpPr/>
          <p:nvPr/>
        </p:nvSpPr>
        <p:spPr>
          <a:xfrm>
            <a:off x="990600" y="3879850"/>
            <a:ext cx="314158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Bestiary: Dungeon Monsters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0600" y="4225230"/>
            <a:ext cx="314158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Quaternius · versão gratuita: </a:t>
            </a:r>
            <a:r>
              <a:rPr lang="en-US" sz="1200" b="1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1200" b="1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Puglin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3 cores cada, mapas de cor, normal, ORM e emissivo 2048²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96284" y="1885950"/>
            <a:ext cx="3405783" cy="3162300"/>
          </a:xfrm>
          <a:prstGeom prst="roundRect">
            <a:avLst>
              <a:gd name="adj" fmla="val 2410"/>
            </a:avLst>
          </a:prstGeom>
          <a:solidFill>
            <a:srgbClr val="1E121B"/>
          </a:solidFill>
          <a:ln/>
        </p:spPr>
      </p:sp>
      <p:pic>
        <p:nvPicPr>
          <p:cNvPr id="8" name="Image 1" descr="Prévia oficial do Sci-Fi Gun Pack com sete armas colorida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4084" y="2063750"/>
            <a:ext cx="304800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9" name="Text 5"/>
          <p:cNvSpPr/>
          <p:nvPr/>
        </p:nvSpPr>
        <p:spPr>
          <a:xfrm>
            <a:off x="4574084" y="3879850"/>
            <a:ext cx="314168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Sci-Fi Gun Pack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4084" y="4225230"/>
            <a:ext cx="31416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Quaternius · 7 armas low-poly em FBX; usamos 6, com cores corrigidas para PBR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79866" y="1885950"/>
            <a:ext cx="3405684" cy="3162300"/>
          </a:xfrm>
          <a:prstGeom prst="roundRect">
            <a:avLst>
              <a:gd name="adj" fmla="val 2410"/>
            </a:avLst>
          </a:prstGeom>
          <a:solidFill>
            <a:srgbClr val="1E121B"/>
          </a:solidFill>
          <a:ln/>
        </p:spPr>
      </p:sp>
      <p:sp>
        <p:nvSpPr>
          <p:cNvPr id="12" name="Shape 8"/>
          <p:cNvSpPr/>
          <p:nvPr/>
        </p:nvSpPr>
        <p:spPr>
          <a:xfrm>
            <a:off x="8157666" y="2063750"/>
            <a:ext cx="3048000" cy="1714500"/>
          </a:xfrm>
          <a:prstGeom prst="roundRect">
            <a:avLst>
              <a:gd name="adj" fmla="val 2963"/>
            </a:avLst>
          </a:prstGeom>
          <a:gradFill rotWithShape="1">
            <a:gsLst>
              <a:gs pos="0">
                <a:srgbClr val="4A1F3A"/>
              </a:gs>
              <a:gs pos="70000">
                <a:srgbClr val="2A1424"/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13" name="Image 2" descr="Zumbi do projeto original">    </p:cNvPr>
          <p:cNvPicPr>
            <a:picLocks noChangeAspect="1"/>
          </p:cNvPicPr>
          <p:nvPr/>
        </p:nvPicPr>
        <p:blipFill>
          <a:blip r:embed="rId3"/>
          <a:srcRect l="0" r="0" t="-207" b="-207"/>
          <a:stretch/>
        </p:blipFill>
        <p:spPr>
          <a:xfrm>
            <a:off x="8983166" y="2063750"/>
            <a:ext cx="1397000" cy="1714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7666" y="3879850"/>
            <a:ext cx="314158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Projeto original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57666" y="4225230"/>
            <a:ext cx="31415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Kenney · characterMedium.fbx + 2 skins de zumbi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295900"/>
            <a:ext cx="108899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Licença Quaternius: uso livre, inclusive comercial, sem crédito obrigatório. Nenhum modelo tinha animação; todas são procedurais.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" y="819150"/>
            <a:ext cx="3797300" cy="5219700"/>
          </a:xfrm>
          <a:prstGeom prst="roundRect">
            <a:avLst>
              <a:gd name="adj" fmla="val 2508"/>
            </a:avLst>
          </a:prstGeom>
          <a:gradFill rotWithShape="1">
            <a:gsLst>
              <a:gs pos="0">
                <a:srgbClr val="2F4A36"/>
              </a:gs>
              <a:gs pos="72000">
                <a:srgbClr val="1E121B"/>
              </a:gs>
            </a:gsLst>
            <a:path path="circle">
              <a:fillToRect l="50000" t="42000" r="50000" b="58000"/>
            </a:path>
          </a:gradFill>
          <a:ln w="12700">
            <a:solidFill>
              <a:srgbClr val="7FC28A"/>
            </a:solidFill>
            <a:prstDash val="solid"/>
          </a:ln>
        </p:spPr>
      </p:sp>
      <p:pic>
        <p:nvPicPr>
          <p:cNvPr id="3" name="Image 0" descr="Zumbi com os braços estendidos">    </p:cNvPr>
          <p:cNvPicPr>
            <a:picLocks noChangeAspect="1"/>
          </p:cNvPicPr>
          <p:nvPr/>
        </p:nvPicPr>
        <p:blipFill>
          <a:blip r:embed="rId1"/>
          <a:srcRect l="0" r="0" t="-1136" b="-1136"/>
          <a:stretch/>
        </p:blipFill>
        <p:spPr>
          <a:xfrm>
            <a:off x="939800" y="1206500"/>
            <a:ext cx="3556000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965200"/>
            <a:ext cx="8099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7FC28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#001</a:t>
            </a:r>
            <a:endParaRPr lang="en-US" sz="28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4978400" y="812800"/>
            <a:ext cx="65928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ZUMBI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984750" y="1568450"/>
            <a:ext cx="1195090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7FC28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Corpo a corpo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8740" y="1568450"/>
            <a:ext cx="624681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7FC28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82321" y="1568450"/>
            <a:ext cx="965398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7FC28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Resistente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78400" y="2016720"/>
            <a:ext cx="65928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Morto-vivo da Night City. Anda de braços estendidos, contorna obstáculos e aguenta mais tiros do que parece.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400" y="265410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1400" y="269726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2" name="Shape 9"/>
          <p:cNvSpPr/>
          <p:nvPr/>
        </p:nvSpPr>
        <p:spPr>
          <a:xfrm>
            <a:off x="6121400" y="2697262"/>
            <a:ext cx="1041400" cy="127000"/>
          </a:xfrm>
          <a:prstGeom prst="roundRect">
            <a:avLst>
              <a:gd name="adj" fmla="val 50000"/>
            </a:avLst>
          </a:prstGeom>
          <a:solidFill>
            <a:srgbClr val="FF3B4E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5900" y="26541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8400" y="294362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1400" y="298678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1400" y="2986782"/>
            <a:ext cx="1638300" cy="127000"/>
          </a:xfrm>
          <a:prstGeom prst="roundRect">
            <a:avLst>
              <a:gd name="adj" fmla="val 50000"/>
            </a:avLst>
          </a:prstGeom>
          <a:solidFill>
            <a:srgbClr val="4FE3F0"/>
          </a:solidFill>
          <a:ln/>
        </p:spPr>
      </p:sp>
      <p:sp>
        <p:nvSpPr>
          <p:cNvPr id="17" name="Text 14"/>
          <p:cNvSpPr/>
          <p:nvPr/>
        </p:nvSpPr>
        <p:spPr>
          <a:xfrm>
            <a:off x="10375900" y="29436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2,9 m/s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78400" y="323314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1400" y="327630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1400" y="3276302"/>
            <a:ext cx="1670050" cy="127000"/>
          </a:xfrm>
          <a:prstGeom prst="roundRect">
            <a:avLst>
              <a:gd name="adj" fmla="val 50000"/>
            </a:avLst>
          </a:prstGeom>
          <a:solidFill>
            <a:srgbClr val="FFA340"/>
          </a:solidFill>
          <a:ln/>
        </p:spPr>
      </p:sp>
      <p:sp>
        <p:nvSpPr>
          <p:cNvPr id="21" name="Text 18"/>
          <p:cNvSpPr/>
          <p:nvPr/>
        </p:nvSpPr>
        <p:spPr>
          <a:xfrm>
            <a:off x="10375900" y="32331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78400" y="358616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mordida a 1,9 m, a cada 1,3 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78800" y="358616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Fraqueza: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lento; tiro na cabeça (1,5×)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78400" y="379948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Altura: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1,85 m · 35% de chance de munição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78800" y="379948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characterMedium.fbx, 2 skins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" y="819150"/>
            <a:ext cx="3797300" cy="5219700"/>
          </a:xfrm>
          <a:prstGeom prst="roundRect">
            <a:avLst>
              <a:gd name="adj" fmla="val 2508"/>
            </a:avLst>
          </a:prstGeom>
          <a:gradFill rotWithShape="1">
            <a:gsLst>
              <a:gs pos="0">
                <a:srgbClr val="3E4A1F"/>
              </a:gs>
              <a:gs pos="72000">
                <a:srgbClr val="1E121B"/>
              </a:gs>
            </a:gsLst>
            <a:path path="circle">
              <a:fillToRect l="50000" t="42000" r="50000" b="58000"/>
            </a:path>
          </a:gradFill>
          <a:ln w="12700">
            <a:solidFill>
              <a:srgbClr val="B6D35A"/>
            </a:solidFill>
            <a:prstDash val="solid"/>
          </a:ln>
        </p:spPr>
      </p:sp>
      <p:pic>
        <p:nvPicPr>
          <p:cNvPr id="3" name="Image 0" descr="Puglin verde com um porrete erguido">    </p:cNvPr>
          <p:cNvPicPr>
            <a:picLocks noChangeAspect="1"/>
          </p:cNvPicPr>
          <p:nvPr/>
        </p:nvPicPr>
        <p:blipFill>
          <a:blip r:embed="rId1"/>
          <a:srcRect l="0" r="0" t="-1136" b="-1136"/>
          <a:stretch/>
        </p:blipFill>
        <p:spPr>
          <a:xfrm>
            <a:off x="939800" y="1206500"/>
            <a:ext cx="3556000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965200"/>
            <a:ext cx="85260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6D35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#002</a:t>
            </a:r>
            <a:endParaRPr lang="en-US" sz="28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4978400" y="812800"/>
            <a:ext cx="65928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PUGLIN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984750" y="1568450"/>
            <a:ext cx="1195090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B6D35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Corpo a corpo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8740" y="1568450"/>
            <a:ext cx="1100931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B6D35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Muito rápido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58571" y="1568450"/>
            <a:ext cx="620216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B6D35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Frágil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78400" y="2016720"/>
            <a:ext cx="65928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em bando e dá um bote no último instante. É o inimigo que mais pune quem fica parado.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400" y="265410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1400" y="269726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2" name="Shape 9"/>
          <p:cNvSpPr/>
          <p:nvPr/>
        </p:nvSpPr>
        <p:spPr>
          <a:xfrm>
            <a:off x="6121400" y="2697262"/>
            <a:ext cx="590550" cy="127000"/>
          </a:xfrm>
          <a:prstGeom prst="roundRect">
            <a:avLst>
              <a:gd name="adj" fmla="val 50000"/>
            </a:avLst>
          </a:prstGeom>
          <a:solidFill>
            <a:srgbClr val="FF3B4E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5900" y="26541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8400" y="294362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1400" y="298678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1400" y="298678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4FE3F0"/>
          </a:solidFill>
          <a:ln/>
        </p:spPr>
      </p:sp>
      <p:sp>
        <p:nvSpPr>
          <p:cNvPr id="17" name="Text 14"/>
          <p:cNvSpPr/>
          <p:nvPr/>
        </p:nvSpPr>
        <p:spPr>
          <a:xfrm>
            <a:off x="10375900" y="29436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7,4 m/s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78400" y="323314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1400" y="327630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1400" y="3276302"/>
            <a:ext cx="977900" cy="127000"/>
          </a:xfrm>
          <a:prstGeom prst="roundRect">
            <a:avLst>
              <a:gd name="adj" fmla="val 50000"/>
            </a:avLst>
          </a:prstGeom>
          <a:solidFill>
            <a:srgbClr val="FFA340"/>
          </a:solidFill>
          <a:ln/>
        </p:spPr>
      </p:sp>
      <p:sp>
        <p:nvSpPr>
          <p:cNvPr id="21" name="Text 18"/>
          <p:cNvSpPr/>
          <p:nvPr/>
        </p:nvSpPr>
        <p:spPr>
          <a:xfrm>
            <a:off x="10375900" y="32331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78400" y="358616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porrete a cada 0,85 s, bote de 10 m/s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78800" y="358616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Fraqueza: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escopeta à queima-roupa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78400" y="379948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Altura: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1,2 m · o chefe invoca 3 por vez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78800" y="379948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Puglin.glb, textura de cor 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" y="819150"/>
            <a:ext cx="3797300" cy="5219700"/>
          </a:xfrm>
          <a:prstGeom prst="roundRect">
            <a:avLst>
              <a:gd name="adj" fmla="val 2508"/>
            </a:avLst>
          </a:prstGeom>
          <a:gradFill rotWithShape="1">
            <a:gsLst>
              <a:gs pos="0">
                <a:srgbClr val="4E1A22"/>
              </a:gs>
              <a:gs pos="72000">
                <a:srgbClr val="1E121B"/>
              </a:gs>
            </a:gsLst>
            <a:path path="circle">
              <a:fillToRect l="50000" t="42000" r="50000" b="58000"/>
            </a:path>
          </a:gradFill>
          <a:ln w="12700">
            <a:solidFill>
              <a:srgbClr val="FF5A4E"/>
            </a:solidFill>
            <a:prstDash val="solid"/>
          </a:ln>
        </p:spPr>
      </p:sp>
      <p:pic>
        <p:nvPicPr>
          <p:cNvPr id="3" name="Image 0" descr="Imp vermelho erguendo a maça para arremessar uma bola de fogo">    </p:cNvPr>
          <p:cNvPicPr>
            <a:picLocks noChangeAspect="1"/>
          </p:cNvPicPr>
          <p:nvPr/>
        </p:nvPicPr>
        <p:blipFill>
          <a:blip r:embed="rId1"/>
          <a:srcRect l="0" r="0" t="-1136" b="-1136"/>
          <a:stretch/>
        </p:blipFill>
        <p:spPr>
          <a:xfrm>
            <a:off x="939800" y="1206500"/>
            <a:ext cx="3556000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965200"/>
            <a:ext cx="852249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F5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#003</a:t>
            </a:r>
            <a:endParaRPr lang="en-US" sz="28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4978400" y="812800"/>
            <a:ext cx="65928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984750" y="1568450"/>
            <a:ext cx="992188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distância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65838" y="1568450"/>
            <a:ext cx="776585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Esquivo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31323" y="1568450"/>
            <a:ext cx="572988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Fogo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78400" y="2016720"/>
            <a:ext cx="65928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Mantém 8 m de distância e anda de lado. Ergue o braço por meio segundo antes de arremessar: é o aviso para desviar.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400" y="265410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1400" y="269726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2" name="Shape 9"/>
          <p:cNvSpPr/>
          <p:nvPr/>
        </p:nvSpPr>
        <p:spPr>
          <a:xfrm>
            <a:off x="6121400" y="2697262"/>
            <a:ext cx="1828800" cy="127000"/>
          </a:xfrm>
          <a:prstGeom prst="roundRect">
            <a:avLst>
              <a:gd name="adj" fmla="val 50000"/>
            </a:avLst>
          </a:prstGeom>
          <a:solidFill>
            <a:srgbClr val="FF3B4E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5900" y="26541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8400" y="294362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1400" y="298678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1400" y="2986782"/>
            <a:ext cx="2482850" cy="127000"/>
          </a:xfrm>
          <a:prstGeom prst="roundRect">
            <a:avLst>
              <a:gd name="adj" fmla="val 50000"/>
            </a:avLst>
          </a:prstGeom>
          <a:solidFill>
            <a:srgbClr val="4FE3F0"/>
          </a:solidFill>
          <a:ln/>
        </p:spPr>
      </p:sp>
      <p:sp>
        <p:nvSpPr>
          <p:cNvPr id="17" name="Text 14"/>
          <p:cNvSpPr/>
          <p:nvPr/>
        </p:nvSpPr>
        <p:spPr>
          <a:xfrm>
            <a:off x="10375900" y="29436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4,4 m/s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78400" y="323314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1400" y="327630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1400" y="3276302"/>
            <a:ext cx="2228850" cy="127000"/>
          </a:xfrm>
          <a:prstGeom prst="roundRect">
            <a:avLst>
              <a:gd name="adj" fmla="val 50000"/>
            </a:avLst>
          </a:prstGeom>
          <a:solidFill>
            <a:srgbClr val="FFA340"/>
          </a:solidFill>
          <a:ln/>
        </p:spPr>
      </p:sp>
      <p:sp>
        <p:nvSpPr>
          <p:cNvPr id="21" name="Text 18"/>
          <p:cNvSpPr/>
          <p:nvPr/>
        </p:nvSpPr>
        <p:spPr>
          <a:xfrm>
            <a:off x="10375900" y="32331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12–16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78400" y="3586163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bola de fogo (12, a 17 m/s) e maça (16)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78800" y="3586163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Fraqueza: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dash lateral; dano interrompe o arremesso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78400" y="401280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Altura: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2,05 m · 50% de chance de munição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78800" y="401280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Imp.glb, textura de cor 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" y="819150"/>
            <a:ext cx="3797300" cy="5219700"/>
          </a:xfrm>
          <a:prstGeom prst="roundRect">
            <a:avLst>
              <a:gd name="adj" fmla="val 2508"/>
            </a:avLst>
          </a:prstGeom>
          <a:gradFill rotWithShape="1">
            <a:gsLst>
              <a:gs pos="0">
                <a:srgbClr val="33215A"/>
              </a:gs>
              <a:gs pos="72000">
                <a:srgbClr val="1E121B"/>
              </a:gs>
            </a:gsLst>
            <a:path path="circle">
              <a:fillToRect l="50000" t="42000" r="50000" b="58000"/>
            </a:path>
          </a:gradFill>
          <a:ln w="12700">
            <a:solidFill>
              <a:srgbClr val="B57CFF"/>
            </a:solidFill>
            <a:prstDash val="solid"/>
          </a:ln>
        </p:spPr>
      </p:sp>
      <p:pic>
        <p:nvPicPr>
          <p:cNvPr id="3" name="Image 0" descr="Imp de Elite azul e roxo com olhos roxos brilhantes">    </p:cNvPr>
          <p:cNvPicPr>
            <a:picLocks noChangeAspect="1"/>
          </p:cNvPicPr>
          <p:nvPr/>
        </p:nvPicPr>
        <p:blipFill>
          <a:blip r:embed="rId1"/>
          <a:srcRect l="0" r="0" t="-1136" b="-1136"/>
          <a:stretch/>
        </p:blipFill>
        <p:spPr>
          <a:xfrm>
            <a:off x="939800" y="1206500"/>
            <a:ext cx="3556000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965200"/>
            <a:ext cx="854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57C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#004</a:t>
            </a:r>
            <a:endParaRPr lang="en-US" sz="28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4978400" y="812800"/>
            <a:ext cx="65928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 DE ELITE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984750" y="1568450"/>
            <a:ext cx="992188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B57C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distância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65838" y="1568450"/>
            <a:ext cx="546298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B57C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1036" y="1568450"/>
            <a:ext cx="605135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B57C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78400" y="2016720"/>
            <a:ext cx="65928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Variante maior e quase imune à dor. Arremessa três esferas roxas em leque, que cobrem a esquiva lateral.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400" y="265410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1400" y="269726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2" name="Shape 9"/>
          <p:cNvSpPr/>
          <p:nvPr/>
        </p:nvSpPr>
        <p:spPr>
          <a:xfrm>
            <a:off x="6121400" y="269726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FF3B4E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5900" y="26541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8400" y="294362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1400" y="298678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1400" y="2986782"/>
            <a:ext cx="2768600" cy="127000"/>
          </a:xfrm>
          <a:prstGeom prst="roundRect">
            <a:avLst>
              <a:gd name="adj" fmla="val 50000"/>
            </a:avLst>
          </a:prstGeom>
          <a:solidFill>
            <a:srgbClr val="4FE3F0"/>
          </a:solidFill>
          <a:ln/>
        </p:spPr>
      </p:sp>
      <p:sp>
        <p:nvSpPr>
          <p:cNvPr id="17" name="Text 14"/>
          <p:cNvSpPr/>
          <p:nvPr/>
        </p:nvSpPr>
        <p:spPr>
          <a:xfrm>
            <a:off x="10375900" y="29436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4,9 m/s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78400" y="323314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1400" y="3276302"/>
            <a:ext cx="417830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1400" y="3276302"/>
            <a:ext cx="3067050" cy="127000"/>
          </a:xfrm>
          <a:prstGeom prst="roundRect">
            <a:avLst>
              <a:gd name="adj" fmla="val 50000"/>
            </a:avLst>
          </a:prstGeom>
          <a:solidFill>
            <a:srgbClr val="FFA340"/>
          </a:solidFill>
          <a:ln/>
        </p:spPr>
      </p:sp>
      <p:sp>
        <p:nvSpPr>
          <p:cNvPr id="21" name="Text 18"/>
          <p:cNvSpPr/>
          <p:nvPr/>
        </p:nvSpPr>
        <p:spPr>
          <a:xfrm>
            <a:off x="10375900" y="32331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3×14 · 22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78400" y="3586163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leque de 3 esferas a 20 m/s e maça (22)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78800" y="3586163"/>
            <a:ext cx="32964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Fraqueza: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railgun e plasma; use cobertura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78400" y="401280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Altura: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2,45 m · sempre deixa munição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78800" y="4012803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Imp.glb, textura de cor 3 + tom roxo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" y="819150"/>
            <a:ext cx="3797300" cy="5219700"/>
          </a:xfrm>
          <a:prstGeom prst="roundRect">
            <a:avLst>
              <a:gd name="adj" fmla="val 2508"/>
            </a:avLst>
          </a:prstGeom>
          <a:gradFill rotWithShape="1">
            <a:gsLst>
              <a:gs pos="0">
                <a:srgbClr val="5A3412"/>
              </a:gs>
              <a:gs pos="72000">
                <a:srgbClr val="1E121B"/>
              </a:gs>
            </a:gsLst>
            <a:path path="circle">
              <a:fillToRect l="50000" t="42000" r="50000" b="58000"/>
            </a:path>
          </a:gradFill>
          <a:ln w="12700">
            <a:solidFill>
              <a:srgbClr val="FFA340"/>
            </a:solidFill>
            <a:prstDash val="solid"/>
          </a:ln>
        </p:spPr>
      </p:sp>
      <p:pic>
        <p:nvPicPr>
          <p:cNvPr id="3" name="Image 0" descr="Arquidemônio amarelo de braços erguidos">    </p:cNvPr>
          <p:cNvPicPr>
            <a:picLocks noChangeAspect="1"/>
          </p:cNvPicPr>
          <p:nvPr/>
        </p:nvPicPr>
        <p:blipFill>
          <a:blip r:embed="rId1"/>
          <a:srcRect l="0" r="0" t="-1136" b="-1136"/>
          <a:stretch/>
        </p:blipFill>
        <p:spPr>
          <a:xfrm>
            <a:off x="939800" y="1206500"/>
            <a:ext cx="3556000" cy="444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965200"/>
            <a:ext cx="85177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FA34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#005</a:t>
            </a:r>
            <a:endParaRPr lang="en-US" sz="28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4978400" y="812800"/>
            <a:ext cx="659936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ARQUIDEMÔNIO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984750" y="1568450"/>
            <a:ext cx="638671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FFA34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Chefe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2321" y="1568450"/>
            <a:ext cx="572988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FFA34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Fogo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74209" y="1568450"/>
            <a:ext cx="934442" cy="302220"/>
          </a:xfrm>
          <a:prstGeom prst="roundRect">
            <a:avLst>
              <a:gd name="adj" fmla="val 48326"/>
            </a:avLst>
          </a:prstGeom>
          <a:noFill/>
          <a:ln w="12700">
            <a:solidFill>
              <a:srgbClr val="FFA34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Invocador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78400" y="2016720"/>
            <a:ext cx="659936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Seis metros de altura. Abaixo de 50% da vida fica furioso: mais rápido, rajadas maiores e invoca Puglins.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400" y="265410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7750" y="2703612"/>
            <a:ext cx="4171950" cy="1143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 w="12700">
            <a:solidFill>
              <a:srgbClr val="FFD27A"/>
            </a:solidFill>
            <a:prstDash val="solid"/>
          </a:ln>
          <a:effectLst>
            <a:outerShdw sx="100000" sy="100000" kx="0" ky="0" algn="bl" rotWithShape="0" blurRad="114300" dist="0" dir="60000">
              <a:srgbClr val="FF3B4E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34100" y="2709962"/>
            <a:ext cx="4159250" cy="101600"/>
          </a:xfrm>
          <a:prstGeom prst="roundRect">
            <a:avLst>
              <a:gd name="adj" fmla="val 50000"/>
            </a:avLst>
          </a:prstGeom>
          <a:solidFill>
            <a:srgbClr val="FF3B4E"/>
          </a:solidFill>
          <a:ln/>
        </p:spPr>
      </p:sp>
      <p:sp>
        <p:nvSpPr>
          <p:cNvPr id="13" name="Text 10"/>
          <p:cNvSpPr/>
          <p:nvPr/>
        </p:nvSpPr>
        <p:spPr>
          <a:xfrm>
            <a:off x="10382250" y="26541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8400" y="294362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1400" y="2986782"/>
            <a:ext cx="418465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1400" y="2986782"/>
            <a:ext cx="2032000" cy="127000"/>
          </a:xfrm>
          <a:prstGeom prst="roundRect">
            <a:avLst>
              <a:gd name="adj" fmla="val 50000"/>
            </a:avLst>
          </a:prstGeom>
          <a:solidFill>
            <a:srgbClr val="4FE3F0"/>
          </a:solidFill>
          <a:ln/>
        </p:spPr>
      </p:sp>
      <p:sp>
        <p:nvSpPr>
          <p:cNvPr id="17" name="Text 14"/>
          <p:cNvSpPr/>
          <p:nvPr/>
        </p:nvSpPr>
        <p:spPr>
          <a:xfrm>
            <a:off x="10382250" y="29436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3,6 m/s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78400" y="3233142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1400" y="3276302"/>
            <a:ext cx="4184650" cy="127000"/>
          </a:xfrm>
          <a:prstGeom prst="roundRect">
            <a:avLst>
              <a:gd name="adj" fmla="val 50000"/>
            </a:avLst>
          </a:prstGeom>
          <a:solidFill>
            <a:srgbClr val="2E1C2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1400" y="3276302"/>
            <a:ext cx="4184650" cy="127000"/>
          </a:xfrm>
          <a:prstGeom prst="roundRect">
            <a:avLst>
              <a:gd name="adj" fmla="val 50000"/>
            </a:avLst>
          </a:prstGeom>
          <a:solidFill>
            <a:srgbClr val="FFA340"/>
          </a:solidFill>
          <a:ln/>
        </p:spPr>
      </p:sp>
      <p:sp>
        <p:nvSpPr>
          <p:cNvPr id="21" name="Text 18"/>
          <p:cNvSpPr/>
          <p:nvPr/>
        </p:nvSpPr>
        <p:spPr>
          <a:xfrm>
            <a:off x="10382250" y="32331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15–30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78400" y="3586163"/>
            <a:ext cx="3299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rajada de 5 (7 na fúria), golpe 30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81975" y="3586163"/>
            <a:ext cx="3299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Especial: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onda de choque (25): pule!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78400" y="3799483"/>
            <a:ext cx="3299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Imune: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não sente dor nem fica atordoado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81975" y="3799483"/>
            <a:ext cx="3299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Imp.glb 3×, textura de cor 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BUGS VISUAIS IDENTIFICADOS</a:t>
            </a:r>
            <a:endParaRPr lang="en-US" sz="3600" dirty="0"/>
          </a:p>
        </p:txBody>
      </p:sp>
      <p:pic>
        <p:nvPicPr>
          <p:cNvPr id="3" name="Image 0" descr="Losango verde gigante tampando o centro da tel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69641"/>
            <a:ext cx="5181600" cy="2914650"/>
          </a:xfrm>
          <a:prstGeom prst="roundRect">
            <a:avLst>
              <a:gd name="adj" fmla="val 2614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4560491"/>
            <a:ext cx="533704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Orbe grudado na câmera: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vida cheia, o orbe era puxado até o olho e não podia ser coletado. Correção: o ímã só atua se o jogador puder usar o item.</a:t>
            </a:r>
            <a:endParaRPr lang="en-US" sz="1200" dirty="0"/>
          </a:p>
        </p:txBody>
      </p:sp>
      <p:pic>
        <p:nvPicPr>
          <p:cNvPr id="5" name="Image 1" descr="Fumaça cinza e bolas laranja tampando a tel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7600" y="1569641"/>
            <a:ext cx="5181600" cy="2914650"/>
          </a:xfrm>
          <a:prstGeom prst="roundRect">
            <a:avLst>
              <a:gd name="adj" fmla="val 2614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197600" y="4560491"/>
            <a:ext cx="53370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Explosões tampando a tela:</a:t>
            </a:r>
            <a:r>
              <a:rPr lang="en-US" sz="12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partículas coladas na lente. Correção: menos partículas e fade perto da câmera, no próprio shader.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993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C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2º PROMPT: CORREÇÃO DE PAREDES</a:t>
            </a:r>
            <a:endParaRPr lang="en-US" sz="3200" dirty="0"/>
          </a:p>
        </p:txBody>
      </p:sp>
      <p:pic>
        <p:nvPicPr>
          <p:cNvPr id="3" name="Image 0" descr="Antes: espaço vazio que bloqueava o jogador">    </p:cNvPr>
          <p:cNvPicPr>
            <a:picLocks noChangeAspect="1"/>
          </p:cNvPicPr>
          <p:nvPr/>
        </p:nvPicPr>
        <p:blipFill>
          <a:blip r:embed="rId1"/>
          <a:srcRect l="0" r="0" t="6427" b="6427"/>
          <a:stretch/>
        </p:blipFill>
        <p:spPr>
          <a:xfrm>
            <a:off x="812800" y="1752600"/>
            <a:ext cx="5181600" cy="2540000"/>
          </a:xfrm>
          <a:prstGeom prst="roundRect">
            <a:avLst>
              <a:gd name="adj" fmla="val 300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4368800"/>
            <a:ext cx="53403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3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Antes:</a:t>
            </a:r>
            <a:r>
              <a:rPr lang="en-US" sz="13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nada na tela, mas o jogador batia e o tiro parava</a:t>
            </a:r>
            <a:endParaRPr lang="en-US" sz="1300" dirty="0"/>
          </a:p>
        </p:txBody>
      </p:sp>
      <p:pic>
        <p:nvPicPr>
          <p:cNvPr id="5" name="Image 1" descr="Depois: caixote com faixa de perigo e cantos em neon">    </p:cNvPr>
          <p:cNvPicPr>
            <a:picLocks noChangeAspect="1"/>
          </p:cNvPicPr>
          <p:nvPr/>
        </p:nvPicPr>
        <p:blipFill>
          <a:blip r:embed="rId2"/>
          <a:srcRect l="0" r="0" t="6427" b="6427"/>
          <a:stretch/>
        </p:blipFill>
        <p:spPr>
          <a:xfrm>
            <a:off x="6200775" y="1752600"/>
            <a:ext cx="5181600" cy="2540000"/>
          </a:xfrm>
          <a:prstGeom prst="roundRect">
            <a:avLst>
              <a:gd name="adj" fmla="val 3000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200775" y="4368800"/>
            <a:ext cx="53403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E3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Depois:</a:t>
            </a:r>
            <a:r>
              <a:rPr lang="en-US" sz="1300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45 caixotes voltaram a aparecer, com neon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06450" y="5534124"/>
            <a:ext cx="108899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Causa:</a:t>
            </a:r>
            <a:r>
              <a:rPr lang="en-US" sz="13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código testava </a:t>
            </a:r>
            <a:r>
              <a:rPr lang="en-US" sz="1300" dirty="0">
                <a:solidFill>
                  <a:srgbClr val="FFA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altura === 2.2</a:t>
            </a:r>
            <a:r>
              <a:rPr lang="en-US" sz="1300" dirty="0">
                <a:solidFill>
                  <a:srgbClr val="C9B8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mas em ponto flutuante de 32 bits o 2,2 vira 2,2000000477, e o teste falhava.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31850" y="5223173"/>
            <a:ext cx="0" cy="213320"/>
          </a:xfrm>
          <a:prstGeom prst="line">
            <a:avLst/>
          </a:prstGeom>
          <a:noFill/>
          <a:ln w="38100">
            <a:solidFill>
              <a:srgbClr val="FF3B4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77900" y="5223173"/>
            <a:ext cx="51735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8DC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"tem algumas paredes invisiveis nas fases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6450" y="4894263"/>
            <a:ext cx="108899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(Somado ao contexto anterior)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203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BF3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AO VIVO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877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BF3F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brunocosta800.github.io/maelstrom-purge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886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BF3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Precisa: Chrome ou Edge atualizado · selo verde "WEBGPU ✓" no menu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ecução de um inimigo com explosão de sangue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09625" y="3048000"/>
            <a:ext cx="1088993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i="0" dirty="0">
                <a:solidFill>
                  <a:srgbClr val="FF3B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OBRIGADO!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elstrom Purge — Timeline de Desenvolvimento">
  <a:themeElements>
    <a:clrScheme name="Maelstrom Purge — Timeline de Desenvolvimento">
      <a:dk1>
        <a:srgbClr val="120A10"/>
      </a:dk1>
      <a:lt1>
        <a:srgbClr val="F3ECEF"/>
      </a:lt1>
      <a:dk2>
        <a:srgbClr val="292126"/>
      </a:dk2>
      <a:lt2>
        <a:srgbClr val="BBB4B7"/>
      </a:lt2>
      <a:accent1>
        <a:srgbClr val="4FE3F0"/>
      </a:accent1>
      <a:accent2>
        <a:srgbClr val="FF3B4E"/>
      </a:accent2>
      <a:accent3>
        <a:srgbClr val="FFA340"/>
      </a:accent3>
      <a:accent4>
        <a:srgbClr val="B6D35A"/>
      </a:accent4>
      <a:accent5>
        <a:srgbClr val="4A1F3A"/>
      </a:accent5>
      <a:accent6>
        <a:srgbClr val="3E4A1F"/>
      </a:accent6>
      <a:hlink>
        <a:srgbClr val="0563C1"/>
      </a:hlink>
      <a:folHlink>
        <a:srgbClr val="954F72"/>
      </a:folHlink>
    </a:clrScheme>
    <a:fontScheme name="Maelstrom Purge — Timeline de Desenvolvimento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Maelstrom Purge — Timeline de Desenvolvimento</dc:title>
  <dc:subject/>
  <dc:creator/>
  <cp:lastModifiedBy/>
  <cp:revision>1</cp:revision>
  <dcterms:created xsi:type="dcterms:W3CDTF">2026-10-05T22:48:31Z</dcterms:created>
  <dcterms:modified xsi:type="dcterms:W3CDTF">2026-10-05T22:48:31Z</dcterms:modified>
</cp:coreProperties>
</file>